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2" r:id="rId5"/>
    <p:sldMasterId id="2147483664" r:id="rId6"/>
    <p:sldMasterId id="2147483739" r:id="rId7"/>
  </p:sldMasterIdLst>
  <p:notesMasterIdLst>
    <p:notesMasterId r:id="rId22"/>
  </p:notesMasterIdLst>
  <p:sldIdLst>
    <p:sldId id="321" r:id="rId8"/>
    <p:sldId id="940" r:id="rId9"/>
    <p:sldId id="944" r:id="rId10"/>
    <p:sldId id="945" r:id="rId11"/>
    <p:sldId id="946" r:id="rId12"/>
    <p:sldId id="947" r:id="rId13"/>
    <p:sldId id="948" r:id="rId14"/>
    <p:sldId id="951" r:id="rId15"/>
    <p:sldId id="952" r:id="rId16"/>
    <p:sldId id="953" r:id="rId17"/>
    <p:sldId id="954" r:id="rId18"/>
    <p:sldId id="955" r:id="rId19"/>
    <p:sldId id="956" r:id="rId20"/>
    <p:sldId id="393" r:id="rId21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265D"/>
    <a:srgbClr val="CE2CE4"/>
    <a:srgbClr val="EBAFB5"/>
    <a:srgbClr val="F34B77"/>
    <a:srgbClr val="020000"/>
    <a:srgbClr val="303030"/>
    <a:srgbClr val="F4D3D6"/>
    <a:srgbClr val="F9E8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98697-E7EB-B84D-9726-13965ED94444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6CD5E-26BD-9B45-BB2F-78648736C27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73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23529" y="44627"/>
            <a:ext cx="7272808" cy="720079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pt-BR"/>
              <a:t>Slide 1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79512" y="908720"/>
            <a:ext cx="8712968" cy="5328592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90501"/>
            <a:ext cx="7323138" cy="5556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162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0" y="44625"/>
            <a:ext cx="7596336" cy="122413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/>
              <a:t>Slide 2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475657" y="1340768"/>
            <a:ext cx="6192688" cy="41044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619673" y="44625"/>
            <a:ext cx="6120680" cy="1008112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/>
              <a:t>Slide 3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47664" y="1268760"/>
            <a:ext cx="6192688" cy="417646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9D725-AF79-4FB6-8D02-83EAC61E3211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29CB-7937-4506-A327-ACF88B95BB0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9D725-AF79-4FB6-8D02-83EAC61E3211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29CB-7937-4506-A327-ACF88B95BB0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06/04/2026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06/04/2026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06/04/2026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0825E-4A15-4D39-8176-1F07E904CB30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AAA4-6363-4581-962D-1ACCC2D600C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06/04/2026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06/04/2026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98760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33562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udo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1" y="908720"/>
            <a:ext cx="7632848" cy="5328592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fld id="{8A4DB464-D8D8-41F6-9F38-5EDC4563F37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3" hasCustomPrompt="1"/>
          </p:nvPr>
        </p:nvSpPr>
        <p:spPr>
          <a:xfrm>
            <a:off x="251521" y="44626"/>
            <a:ext cx="7704534" cy="575791"/>
          </a:xfrm>
        </p:spPr>
        <p:txBody>
          <a:bodyPr/>
          <a:lstStyle>
            <a:lvl1pPr marL="0" indent="0">
              <a:buNone/>
              <a:defRPr b="1">
                <a:effectLst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1817665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l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Imagem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5923287"/>
      </p:ext>
    </p:extLst>
  </p:cSld>
  <p:clrMapOvr>
    <a:masterClrMapping/>
  </p:clrMapOvr>
  <p:transition spd="med">
    <p:fade thruBlk="1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go +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4242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DC2E43-1104-4361-9C00-4DD9ABBC5D8F}" type="datetimeFigureOut">
              <a:rPr lang="pt-BR" smtClean="0"/>
              <a:pPr/>
              <a:t>06/04/2026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050" name="Picture 2" descr="K:\Júnior\B.I\FIAP Shift\Template 4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2"/>
            <a:ext cx="9144000" cy="6858001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  <p:sldLayoutId id="2147483668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F66E0A-C854-4299-A8D3-265B33E61F69}" type="datetimeFigureOut">
              <a:rPr lang="pt-BR" smtClean="0"/>
              <a:pPr/>
              <a:t>06/04/2026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9B6C0-1EBF-4909-A23C-2B4E6C0F9776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3074" name="Picture 2" descr="K:\Júnior\B.I\FIAP Shift\Template 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B5FC2F-4F59-4DA4-9C31-80974F5350D2}" type="datetimeFigureOut">
              <a:rPr lang="pt-BR" smtClean="0"/>
              <a:pPr/>
              <a:t>06/04/2026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8BDE16-AB64-4071-8A5E-208E5097AA46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098" name="Picture 2" descr="K:\Júnior\B.I\FIAP Shift\Template 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-99393"/>
            <a:ext cx="9276524" cy="6957393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DC2E43-1104-4361-9C00-4DD9ABBC5D8F}" type="datetimeFigureOut">
              <a:rPr lang="pt-BR" smtClean="0"/>
              <a:pPr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3" r:id="rId13"/>
    <p:sldLayoutId id="2147483755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9.sv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6E72A25-0351-4EA7-A0C1-56A102DB83F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12" y="1"/>
            <a:ext cx="9140318" cy="68580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pic>
      <p:pic>
        <p:nvPicPr>
          <p:cNvPr id="8" name="Picture 2" descr="Resultado de imagem para lets rock the future fiap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1112" y="490188"/>
            <a:ext cx="5261776" cy="5363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tângulo 1"/>
          <p:cNvSpPr>
            <a:spLocks noChangeArrowheads="1"/>
          </p:cNvSpPr>
          <p:nvPr/>
        </p:nvSpPr>
        <p:spPr bwMode="auto">
          <a:xfrm>
            <a:off x="4451350" y="3244850"/>
            <a:ext cx="2413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pt-BR" altLang="pt-BR" sz="1800" b="0" i="0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  <a:endParaRPr lang="pt-BR" altLang="pt-BR" sz="1800">
              <a:solidFill>
                <a:schemeClr val="bg2"/>
              </a:solidFill>
              <a:latin typeface="Square721 BT" pitchFamily="34" charset="0"/>
            </a:endParaRPr>
          </a:p>
        </p:txBody>
      </p:sp>
      <p:pic>
        <p:nvPicPr>
          <p:cNvPr id="6" name="Imagem 1">
            <a:extLst>
              <a:ext uri="{FF2B5EF4-FFF2-40B4-BE49-F238E27FC236}">
                <a16:creationId xmlns:a16="http://schemas.microsoft.com/office/drawing/2014/main" id="{AB8F54D6-D80E-43FE-9301-431E0CC909C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6616" y="291457"/>
            <a:ext cx="2648691" cy="71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484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70C6B2C5-3AD5-0813-F913-18F63AEE82D6}"/>
              </a:ext>
            </a:extLst>
          </p:cNvPr>
          <p:cNvSpPr txBox="1"/>
          <p:nvPr/>
        </p:nvSpPr>
        <p:spPr>
          <a:xfrm>
            <a:off x="2287213" y="-1035"/>
            <a:ext cx="527680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000" b="1" err="1">
                <a:solidFill>
                  <a:schemeClr val="bg1"/>
                </a:solidFill>
                <a:ea typeface="+mn-lt"/>
                <a:cs typeface="+mn-lt"/>
              </a:rPr>
              <a:t>Coding</a:t>
            </a:r>
            <a:r>
              <a:rPr lang="pt-BR" sz="4000" b="1">
                <a:solidFill>
                  <a:schemeClr val="bg1"/>
                </a:solidFill>
                <a:ea typeface="+mn-lt"/>
                <a:cs typeface="+mn-lt"/>
              </a:rPr>
              <a:t> for Security</a:t>
            </a:r>
            <a:br>
              <a:rPr lang="pt-BR" sz="3200" b="1">
                <a:solidFill>
                  <a:schemeClr val="bg1"/>
                </a:solidFill>
                <a:ea typeface="+mn-lt"/>
                <a:cs typeface="+mn-lt"/>
              </a:rPr>
            </a:br>
            <a:endParaRPr lang="pt-BR" sz="3200" b="1">
              <a:ea typeface="+mn-lt"/>
              <a:cs typeface="+mn-lt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1A8B3CF-7038-F871-23B6-7C8CE6938361}"/>
              </a:ext>
            </a:extLst>
          </p:cNvPr>
          <p:cNvSpPr txBox="1"/>
          <p:nvPr/>
        </p:nvSpPr>
        <p:spPr>
          <a:xfrm>
            <a:off x="232792" y="1858588"/>
            <a:ext cx="8716227" cy="57861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b="1">
                <a:solidFill>
                  <a:srgbClr val="F0265D"/>
                </a:solidFill>
                <a:ea typeface="+mn-lt"/>
                <a:cs typeface="+mn-lt"/>
              </a:rPr>
              <a:t> Objetivos de Aprendizagem:</a:t>
            </a:r>
            <a:br>
              <a:rPr lang="pt-BR" b="1">
                <a:ea typeface="+mn-lt"/>
                <a:cs typeface="+mn-lt"/>
              </a:rPr>
            </a:br>
            <a:endParaRPr lang="pt-BR" b="1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Implementar um </a:t>
            </a:r>
            <a:r>
              <a:rPr lang="pt-BR" sz="2400">
                <a:solidFill>
                  <a:srgbClr val="F0265D"/>
                </a:solidFill>
                <a:ea typeface="+mn-lt"/>
                <a:cs typeface="+mn-lt"/>
              </a:rPr>
              <a:t>loop </a:t>
            </a:r>
            <a:r>
              <a:rPr lang="pt-BR" sz="2400">
                <a:solidFill>
                  <a:srgbClr val="F0265D"/>
                </a:solidFill>
                <a:latin typeface="Consolas"/>
                <a:ea typeface="+mn-lt"/>
                <a:cs typeface="+mn-lt"/>
              </a:rPr>
              <a:t>for</a:t>
            </a: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 para iterar sobre uma sequência.</a:t>
            </a:r>
            <a:br>
              <a:rPr lang="pt-BR" sz="2400">
                <a:solidFill>
                  <a:schemeClr val="bg1"/>
                </a:solidFill>
                <a:ea typeface="+mn-lt"/>
                <a:cs typeface="+mn-lt"/>
              </a:rPr>
            </a:br>
            <a:endParaRPr lang="pt-BR" sz="2400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Utilizar a função </a:t>
            </a:r>
            <a:r>
              <a:rPr lang="pt-BR" sz="2400">
                <a:solidFill>
                  <a:srgbClr val="F0265D"/>
                </a:solidFill>
                <a:latin typeface="Consolas"/>
                <a:ea typeface="+mn-lt"/>
                <a:cs typeface="+mn-lt"/>
              </a:rPr>
              <a:t>range()</a:t>
            </a: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 para gerar sequências numéricas.</a:t>
            </a:r>
            <a:br>
              <a:rPr lang="pt-BR" sz="2400">
                <a:solidFill>
                  <a:schemeClr val="bg1"/>
                </a:solidFill>
                <a:ea typeface="+mn-lt"/>
                <a:cs typeface="+mn-lt"/>
              </a:rPr>
            </a:br>
            <a:endParaRPr lang="pt-BR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Aplicar o</a:t>
            </a:r>
            <a:r>
              <a:rPr lang="pt-BR" sz="2400">
                <a:solidFill>
                  <a:srgbClr val="F0265D"/>
                </a:solidFill>
                <a:ea typeface="+mn-lt"/>
                <a:cs typeface="+mn-lt"/>
              </a:rPr>
              <a:t> loop </a:t>
            </a:r>
            <a:r>
              <a:rPr lang="pt-BR" sz="2400">
                <a:solidFill>
                  <a:srgbClr val="F0265D"/>
                </a:solidFill>
                <a:latin typeface="Consolas"/>
                <a:ea typeface="+mn-lt"/>
                <a:cs typeface="+mn-lt"/>
              </a:rPr>
              <a:t>for</a:t>
            </a: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 para percorrer os </a:t>
            </a:r>
            <a:r>
              <a:rPr lang="pt-BR" sz="2400">
                <a:solidFill>
                  <a:srgbClr val="F0265D"/>
                </a:solidFill>
                <a:ea typeface="+mn-lt"/>
                <a:cs typeface="+mn-lt"/>
              </a:rPr>
              <a:t>caracteres de uma </a:t>
            </a:r>
            <a:r>
              <a:rPr lang="pt-BR" sz="2400" err="1">
                <a:solidFill>
                  <a:srgbClr val="F0265D"/>
                </a:solidFill>
                <a:ea typeface="+mn-lt"/>
                <a:cs typeface="+mn-lt"/>
              </a:rPr>
              <a:t>string</a:t>
            </a: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.</a:t>
            </a:r>
            <a:br>
              <a:rPr lang="pt-BR" sz="2400">
                <a:solidFill>
                  <a:schemeClr val="bg1"/>
                </a:solidFill>
                <a:ea typeface="+mn-lt"/>
                <a:cs typeface="+mn-lt"/>
              </a:rPr>
            </a:br>
            <a:endParaRPr lang="pt-BR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Diferenciar quando usar</a:t>
            </a:r>
            <a:r>
              <a:rPr lang="pt-BR" sz="2400">
                <a:solidFill>
                  <a:srgbClr val="F0265D"/>
                </a:solidFill>
                <a:ea typeface="+mn-lt"/>
                <a:cs typeface="+mn-lt"/>
              </a:rPr>
              <a:t> </a:t>
            </a:r>
            <a:r>
              <a:rPr lang="pt-BR" sz="2400">
                <a:solidFill>
                  <a:srgbClr val="F0265D"/>
                </a:solidFill>
                <a:latin typeface="Consolas"/>
                <a:ea typeface="+mn-lt"/>
                <a:cs typeface="+mn-lt"/>
              </a:rPr>
              <a:t>for</a:t>
            </a: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 ou </a:t>
            </a:r>
            <a:r>
              <a:rPr lang="pt-BR" sz="2400" err="1">
                <a:solidFill>
                  <a:srgbClr val="F0265D"/>
                </a:solidFill>
                <a:latin typeface="Consolas"/>
                <a:ea typeface="+mn-lt"/>
                <a:cs typeface="+mn-lt"/>
              </a:rPr>
              <a:t>while</a:t>
            </a: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pt-BR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pt-BR" sz="2400">
              <a:solidFill>
                <a:srgbClr val="F0265D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pt-BR" sz="2400">
              <a:solidFill>
                <a:srgbClr val="FF0000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br>
              <a:rPr lang="pt-BR" sz="2400">
                <a:ea typeface="+mn-lt"/>
                <a:cs typeface="+mn-lt"/>
              </a:rPr>
            </a:br>
            <a:endParaRPr lang="pt-BR" sz="2400">
              <a:solidFill>
                <a:schemeClr val="bg1"/>
              </a:solidFill>
              <a:ea typeface="+mn-lt"/>
              <a:cs typeface="+mn-lt"/>
            </a:endParaRPr>
          </a:p>
          <a:p>
            <a:endParaRPr lang="pt-BR" b="1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pt-BR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pt-BR">
              <a:solidFill>
                <a:schemeClr val="bg1"/>
              </a:solidFill>
              <a:ea typeface="+mn-lt"/>
              <a:cs typeface="+mn-lt"/>
            </a:endParaRPr>
          </a:p>
          <a:p>
            <a:endParaRPr lang="pt-BR">
              <a:solidFill>
                <a:schemeClr val="bg1"/>
              </a:solidFill>
              <a:ea typeface="+mn-lt"/>
              <a:cs typeface="+mn-lt"/>
            </a:endParaRPr>
          </a:p>
        </p:txBody>
      </p:sp>
      <p:pic>
        <p:nvPicPr>
          <p:cNvPr id="3" name="Imagem 1" descr="Ícone&#10;&#10;O conteúdo gerado por IA pode estar incorreto.">
            <a:extLst>
              <a:ext uri="{FF2B5EF4-FFF2-40B4-BE49-F238E27FC236}">
                <a16:creationId xmlns:a16="http://schemas.microsoft.com/office/drawing/2014/main" id="{53FF6E2F-8401-4F27-AAA0-3D8958574EB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328" y="190873"/>
            <a:ext cx="1459971" cy="39245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EBDA65B-0E05-8571-209D-BE93D224915B}"/>
              </a:ext>
            </a:extLst>
          </p:cNvPr>
          <p:cNvSpPr txBox="1"/>
          <p:nvPr/>
        </p:nvSpPr>
        <p:spPr>
          <a:xfrm>
            <a:off x="1769947" y="782170"/>
            <a:ext cx="70408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>
                <a:solidFill>
                  <a:srgbClr val="FFFFFF"/>
                </a:solidFill>
                <a:ea typeface="+mn-lt"/>
                <a:cs typeface="+mn-lt"/>
              </a:rPr>
              <a:t>Estruturas de Repetição - O Laço </a:t>
            </a:r>
            <a:r>
              <a:rPr lang="pt-BR" sz="2400" b="1">
                <a:solidFill>
                  <a:srgbClr val="FFFFFF"/>
                </a:solidFill>
                <a:latin typeface="Calibri"/>
                <a:ea typeface="+mn-lt"/>
                <a:cs typeface="+mn-lt"/>
              </a:rPr>
              <a:t>For</a:t>
            </a:r>
            <a:endParaRPr lang="pt-BR" sz="2400" b="1" u="sng">
              <a:solidFill>
                <a:srgbClr val="FFFFFF"/>
              </a:solidFill>
              <a:latin typeface="Consolas"/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1A8C1F6-8979-33D6-80CA-DE4A0C5073A1}"/>
              </a:ext>
            </a:extLst>
          </p:cNvPr>
          <p:cNvSpPr txBox="1"/>
          <p:nvPr/>
        </p:nvSpPr>
        <p:spPr>
          <a:xfrm>
            <a:off x="7250138" y="599666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rgbClr val="FFFFFF"/>
                </a:solidFill>
              </a:rPr>
              <a:t>Prof. Gabriel Saito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1523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90C9D-3A6E-A7B4-46B3-6B5AAD74C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A0F57C33-01F5-DD55-9CB0-D1EA5072BB4F}"/>
              </a:ext>
            </a:extLst>
          </p:cNvPr>
          <p:cNvSpPr txBox="1"/>
          <p:nvPr/>
        </p:nvSpPr>
        <p:spPr>
          <a:xfrm>
            <a:off x="2287213" y="-1035"/>
            <a:ext cx="527680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000" b="1" err="1">
                <a:solidFill>
                  <a:schemeClr val="bg1"/>
                </a:solidFill>
                <a:ea typeface="+mn-lt"/>
                <a:cs typeface="+mn-lt"/>
              </a:rPr>
              <a:t>Coding</a:t>
            </a:r>
            <a:r>
              <a:rPr lang="pt-BR" sz="4000" b="1">
                <a:solidFill>
                  <a:schemeClr val="bg1"/>
                </a:solidFill>
                <a:ea typeface="+mn-lt"/>
                <a:cs typeface="+mn-lt"/>
              </a:rPr>
              <a:t> for Security</a:t>
            </a:r>
            <a:br>
              <a:rPr lang="pt-BR" sz="3200" b="1">
                <a:solidFill>
                  <a:schemeClr val="bg1"/>
                </a:solidFill>
                <a:ea typeface="+mn-lt"/>
                <a:cs typeface="+mn-lt"/>
              </a:rPr>
            </a:br>
            <a:endParaRPr lang="pt-BR" sz="3200" b="1">
              <a:ea typeface="+mn-lt"/>
              <a:cs typeface="+mn-lt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A9DC04E-F51E-CF48-EEE1-8BCD8FBF3498}"/>
              </a:ext>
            </a:extLst>
          </p:cNvPr>
          <p:cNvSpPr txBox="1"/>
          <p:nvPr/>
        </p:nvSpPr>
        <p:spPr>
          <a:xfrm>
            <a:off x="222587" y="1613659"/>
            <a:ext cx="8716227" cy="78175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b="1">
                <a:solidFill>
                  <a:srgbClr val="F0265D"/>
                </a:solidFill>
                <a:ea typeface="+mn-lt"/>
                <a:cs typeface="+mn-lt"/>
              </a:rPr>
              <a:t>Uma Nova Ferramenta: O Laço </a:t>
            </a:r>
            <a:r>
              <a:rPr lang="pt-BR" sz="2800" b="1">
                <a:solidFill>
                  <a:srgbClr val="F0265D"/>
                </a:solidFill>
                <a:latin typeface="Consolas"/>
                <a:ea typeface="+mn-lt"/>
                <a:cs typeface="+mn-lt"/>
              </a:rPr>
              <a:t>for</a:t>
            </a:r>
            <a:endParaRPr lang="pt-BR" b="1"/>
          </a:p>
          <a:p>
            <a:endParaRPr lang="pt-BR" sz="2800" b="1">
              <a:solidFill>
                <a:srgbClr val="F0265D"/>
              </a:solidFill>
              <a:latin typeface="Consolas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O laço </a:t>
            </a:r>
            <a:r>
              <a:rPr lang="pt-BR" sz="240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for</a:t>
            </a: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 é usado para </a:t>
            </a:r>
            <a:r>
              <a:rPr lang="pt-BR" sz="2400" b="1">
                <a:solidFill>
                  <a:schemeClr val="bg1"/>
                </a:solidFill>
                <a:ea typeface="+mn-lt"/>
                <a:cs typeface="+mn-lt"/>
              </a:rPr>
              <a:t>iterar</a:t>
            </a: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 sobre os itens de uma sequência.</a:t>
            </a:r>
            <a:endParaRPr lang="pt-BR" sz="240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pt-BR" sz="240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O que é uma sequência? Pode ser uma lista de números, os caracteres de uma palavra, etc.</a:t>
            </a:r>
            <a:endParaRPr lang="pt-BR" sz="240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pt-BR" sz="240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A ideia principal é: "Para cada item nesta coleção, faça algo".</a:t>
            </a:r>
            <a:br>
              <a:rPr lang="pt-BR" sz="2400">
                <a:solidFill>
                  <a:schemeClr val="bg1"/>
                </a:solidFill>
                <a:ea typeface="+mn-lt"/>
                <a:cs typeface="+mn-lt"/>
              </a:rPr>
            </a:br>
            <a:endParaRPr lang="pt-BR" sz="2400">
              <a:solidFill>
                <a:schemeClr val="bg1"/>
              </a:solidFill>
            </a:endParaRPr>
          </a:p>
          <a:p>
            <a:r>
              <a:rPr lang="pt-BR" sz="3200" b="1">
                <a:solidFill>
                  <a:srgbClr val="F0265D"/>
                </a:solidFill>
                <a:latin typeface="Calibri"/>
                <a:ea typeface="+mn-lt"/>
                <a:cs typeface="+mn-lt"/>
              </a:rPr>
              <a:t>Sintaxe:</a:t>
            </a:r>
            <a:endParaRPr lang="pt-BR" sz="3200">
              <a:solidFill>
                <a:srgbClr val="000000"/>
              </a:solidFill>
              <a:latin typeface="Calibri"/>
              <a:ea typeface="+mn-lt"/>
              <a:cs typeface="+mn-lt"/>
            </a:endParaRPr>
          </a:p>
          <a:p>
            <a:r>
              <a:rPr lang="pt-BR" sz="2000">
                <a:solidFill>
                  <a:srgbClr val="C586C0"/>
                </a:solidFill>
                <a:latin typeface="Consolas"/>
                <a:ea typeface="+mn-lt"/>
                <a:cs typeface="+mn-lt"/>
              </a:rPr>
              <a:t>for</a:t>
            </a:r>
            <a:r>
              <a:rPr lang="pt-BR" sz="2000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pt-BR" sz="2000" err="1">
                <a:solidFill>
                  <a:srgbClr val="9CDCFE"/>
                </a:solidFill>
                <a:latin typeface="Consolas"/>
                <a:ea typeface="+mn-lt"/>
                <a:cs typeface="+mn-lt"/>
              </a:rPr>
              <a:t>variavel_temporaria</a:t>
            </a:r>
            <a:r>
              <a:rPr lang="pt-BR" sz="2000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pt-BR" sz="2000">
                <a:solidFill>
                  <a:srgbClr val="C586C0"/>
                </a:solidFill>
                <a:latin typeface="Consolas"/>
                <a:ea typeface="+mn-lt"/>
                <a:cs typeface="+mn-lt"/>
              </a:rPr>
              <a:t>in</a:t>
            </a:r>
            <a:r>
              <a:rPr lang="pt-BR" sz="2000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sequencia:</a:t>
            </a:r>
            <a:endParaRPr lang="pt-BR" sz="2000">
              <a:solidFill>
                <a:srgbClr val="000000"/>
              </a:solidFill>
              <a:latin typeface="Consolas"/>
              <a:ea typeface="+mn-lt"/>
              <a:cs typeface="+mn-lt"/>
            </a:endParaRPr>
          </a:p>
          <a:p>
            <a:r>
              <a:rPr lang="pt-BR" sz="2000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    </a:t>
            </a:r>
            <a:r>
              <a:rPr lang="pt-BR" sz="2000">
                <a:solidFill>
                  <a:srgbClr val="6A9955"/>
                </a:solidFill>
                <a:latin typeface="Consolas"/>
                <a:ea typeface="+mn-lt"/>
                <a:cs typeface="+mn-lt"/>
              </a:rPr>
              <a:t># Bloco de código que usa a </a:t>
            </a:r>
            <a:r>
              <a:rPr lang="pt-BR" sz="2000" err="1">
                <a:solidFill>
                  <a:srgbClr val="6A9955"/>
                </a:solidFill>
                <a:latin typeface="Consolas"/>
                <a:ea typeface="+mn-lt"/>
                <a:cs typeface="+mn-lt"/>
              </a:rPr>
              <a:t>variavel_temporaria</a:t>
            </a:r>
            <a:endParaRPr lang="pt-BR" sz="2000">
              <a:solidFill>
                <a:srgbClr val="000000"/>
              </a:solidFill>
              <a:latin typeface="Consolas"/>
              <a:ea typeface="+mn-lt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br>
              <a:rPr lang="en-US">
                <a:solidFill>
                  <a:srgbClr val="000000"/>
                </a:solidFill>
                <a:latin typeface="Calibri"/>
                <a:ea typeface="+mn-lt"/>
                <a:cs typeface="+mn-lt"/>
              </a:rPr>
            </a:br>
            <a:endParaRPr lang="en-US">
              <a:solidFill>
                <a:srgbClr val="000000"/>
              </a:solidFill>
              <a:latin typeface="Calibri"/>
              <a:ea typeface="+mn-lt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endParaRPr lang="pt-BR" sz="2400">
              <a:solidFill>
                <a:srgbClr val="000000"/>
              </a:solidFill>
              <a:latin typeface="Calibri"/>
              <a:ea typeface="+mn-lt"/>
              <a:cs typeface="+mn-lt"/>
            </a:endParaRPr>
          </a:p>
          <a:p>
            <a:endParaRPr lang="pt-BR" sz="2800" b="1">
              <a:solidFill>
                <a:srgbClr val="F0265D"/>
              </a:solidFill>
              <a:latin typeface="Consolas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pt-BR" sz="2400">
              <a:solidFill>
                <a:srgbClr val="FFFFFF"/>
              </a:solidFill>
              <a:latin typeface="Calibri"/>
              <a:ea typeface="+mn-lt"/>
              <a:cs typeface="+mn-lt"/>
            </a:endParaRPr>
          </a:p>
          <a:p>
            <a:endParaRPr lang="pt-BR" sz="2800" b="1">
              <a:solidFill>
                <a:srgbClr val="F0265D"/>
              </a:solidFill>
              <a:latin typeface="Consolas"/>
              <a:ea typeface="+mn-lt"/>
              <a:cs typeface="+mn-lt"/>
            </a:endParaRPr>
          </a:p>
          <a:p>
            <a:endParaRPr lang="pt-BR" sz="2400" b="1">
              <a:solidFill>
                <a:srgbClr val="F0265D"/>
              </a:solidFill>
              <a:latin typeface="Calibri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pt-BR" sz="2400">
              <a:solidFill>
                <a:srgbClr val="000000"/>
              </a:solidFill>
              <a:latin typeface="Calibri"/>
              <a:ea typeface="+mn-lt"/>
              <a:cs typeface="+mn-lt"/>
            </a:endParaRPr>
          </a:p>
          <a:p>
            <a:endParaRPr lang="pt-BR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3" name="Imagem 1" descr="Ícone&#10;&#10;O conteúdo gerado por IA pode estar incorreto.">
            <a:extLst>
              <a:ext uri="{FF2B5EF4-FFF2-40B4-BE49-F238E27FC236}">
                <a16:creationId xmlns:a16="http://schemas.microsoft.com/office/drawing/2014/main" id="{223B3A15-72EF-22DC-3F3D-CF5E88E15F0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328" y="190873"/>
            <a:ext cx="1459971" cy="39245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6AF2C3-F628-82E4-CA30-50812668D3D8}"/>
              </a:ext>
            </a:extLst>
          </p:cNvPr>
          <p:cNvSpPr txBox="1"/>
          <p:nvPr/>
        </p:nvSpPr>
        <p:spPr>
          <a:xfrm>
            <a:off x="1769947" y="782170"/>
            <a:ext cx="70408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>
                <a:solidFill>
                  <a:srgbClr val="FFFFFF"/>
                </a:solidFill>
                <a:ea typeface="+mn-lt"/>
                <a:cs typeface="+mn-lt"/>
              </a:rPr>
              <a:t>Estruturas de Repetição - O Laço For</a:t>
            </a:r>
            <a:endParaRPr lang="pt-BR" sz="2400" b="1" u="sng">
              <a:solidFill>
                <a:srgbClr val="FFFFFF"/>
              </a:solidFill>
              <a:latin typeface="Consolas"/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8F62025-40B8-2B74-E20F-624734DF10C0}"/>
              </a:ext>
            </a:extLst>
          </p:cNvPr>
          <p:cNvSpPr txBox="1"/>
          <p:nvPr/>
        </p:nvSpPr>
        <p:spPr>
          <a:xfrm>
            <a:off x="7250138" y="599666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rgbClr val="FFFFFF"/>
                </a:solidFill>
              </a:rPr>
              <a:t>Prof. Gabriel Saito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4527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A1AD0-1B59-14C5-E63B-894C4DD01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8CF3AEC1-B141-E1E8-FC86-156A0416BE93}"/>
              </a:ext>
            </a:extLst>
          </p:cNvPr>
          <p:cNvSpPr txBox="1"/>
          <p:nvPr/>
        </p:nvSpPr>
        <p:spPr>
          <a:xfrm>
            <a:off x="2287213" y="-1035"/>
            <a:ext cx="527680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000" b="1" err="1">
                <a:solidFill>
                  <a:schemeClr val="bg1"/>
                </a:solidFill>
                <a:ea typeface="+mn-lt"/>
                <a:cs typeface="+mn-lt"/>
              </a:rPr>
              <a:t>Coding</a:t>
            </a:r>
            <a:r>
              <a:rPr lang="pt-BR" sz="4000" b="1">
                <a:solidFill>
                  <a:schemeClr val="bg1"/>
                </a:solidFill>
                <a:ea typeface="+mn-lt"/>
                <a:cs typeface="+mn-lt"/>
              </a:rPr>
              <a:t> for Security</a:t>
            </a:r>
            <a:br>
              <a:rPr lang="pt-BR" sz="3200" b="1">
                <a:solidFill>
                  <a:schemeClr val="bg1"/>
                </a:solidFill>
                <a:ea typeface="+mn-lt"/>
                <a:cs typeface="+mn-lt"/>
              </a:rPr>
            </a:br>
            <a:endParaRPr lang="pt-BR" sz="3200" b="1">
              <a:ea typeface="+mn-lt"/>
              <a:cs typeface="+mn-lt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62790D4-9EC2-F86E-CB83-3B65ECDD8797}"/>
              </a:ext>
            </a:extLst>
          </p:cNvPr>
          <p:cNvSpPr txBox="1"/>
          <p:nvPr/>
        </p:nvSpPr>
        <p:spPr>
          <a:xfrm>
            <a:off x="222587" y="1613659"/>
            <a:ext cx="8716227" cy="61555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>
                <a:solidFill>
                  <a:srgbClr val="F0265D"/>
                </a:solidFill>
                <a:ea typeface="+mn-lt"/>
                <a:cs typeface="+mn-lt"/>
              </a:rPr>
              <a:t>Gerando Sequências com </a:t>
            </a:r>
            <a:r>
              <a:rPr lang="pt-BR" sz="3200" b="1">
                <a:solidFill>
                  <a:srgbClr val="F0265D"/>
                </a:solidFill>
                <a:latin typeface="Consolas"/>
                <a:ea typeface="+mn-lt"/>
                <a:cs typeface="+mn-lt"/>
              </a:rPr>
              <a:t>range()</a:t>
            </a:r>
            <a:endParaRPr lang="pt-BR" sz="3200" b="1" err="1">
              <a:solidFill>
                <a:srgbClr val="FFFFFF"/>
              </a:solidFill>
              <a:ea typeface="+mn-lt"/>
              <a:cs typeface="+mn-lt"/>
            </a:endParaRPr>
          </a:p>
          <a:p>
            <a:endParaRPr lang="pt-BR" sz="2800" b="1">
              <a:solidFill>
                <a:schemeClr val="bg1"/>
              </a:solidFill>
              <a:latin typeface="Consolas"/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E se não tivermos uma sequência pronta? Podemos gerá-la!</a:t>
            </a:r>
          </a:p>
          <a:p>
            <a:pPr>
              <a:buFont typeface="Arial"/>
              <a:buChar char="•"/>
            </a:pPr>
            <a:endParaRPr lang="pt-BR" sz="2400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A função </a:t>
            </a:r>
            <a:r>
              <a:rPr lang="pt-BR" sz="2400">
                <a:solidFill>
                  <a:srgbClr val="F0265D"/>
                </a:solidFill>
                <a:latin typeface="Consolas"/>
                <a:ea typeface="+mn-lt"/>
                <a:cs typeface="+mn-lt"/>
              </a:rPr>
              <a:t>range()</a:t>
            </a: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 cria uma sequência de </a:t>
            </a:r>
            <a:r>
              <a:rPr lang="pt-BR" sz="2400">
                <a:solidFill>
                  <a:srgbClr val="F0265D"/>
                </a:solidFill>
                <a:ea typeface="+mn-lt"/>
                <a:cs typeface="+mn-lt"/>
              </a:rPr>
              <a:t>números inteiros</a:t>
            </a: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.</a:t>
            </a:r>
          </a:p>
          <a:p>
            <a:pPr>
              <a:buFont typeface="Arial"/>
              <a:buChar char="•"/>
            </a:pPr>
            <a:endParaRPr lang="pt-BR" sz="2400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É a parceira perfeita para o laço </a:t>
            </a:r>
            <a:r>
              <a:rPr lang="pt-BR" sz="2400">
                <a:solidFill>
                  <a:srgbClr val="F0265D"/>
                </a:solidFill>
                <a:latin typeface="Consolas"/>
                <a:ea typeface="+mn-lt"/>
                <a:cs typeface="+mn-lt"/>
              </a:rPr>
              <a:t>for</a:t>
            </a: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.</a:t>
            </a:r>
          </a:p>
          <a:p>
            <a:pPr>
              <a:buFont typeface="Arial"/>
              <a:buChar char="•"/>
            </a:pPr>
            <a:endParaRPr lang="pt-BR" sz="2400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Possui três formas de uso.</a:t>
            </a:r>
          </a:p>
          <a:p>
            <a:pPr marL="285750" indent="-285750">
              <a:buFont typeface="Arial"/>
              <a:buChar char="•"/>
            </a:pPr>
            <a:endParaRPr lang="pt-BR" sz="2000">
              <a:solidFill>
                <a:schemeClr val="bg1"/>
              </a:solidFill>
              <a:ea typeface="+mn-lt"/>
              <a:cs typeface="+mn-lt"/>
            </a:endParaRPr>
          </a:p>
          <a:p>
            <a:endParaRPr lang="pt-BR" sz="2800" b="1">
              <a:solidFill>
                <a:srgbClr val="F0265D"/>
              </a:solidFill>
              <a:latin typeface="Consolas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pt-BR" sz="2400">
              <a:solidFill>
                <a:schemeClr val="bg1"/>
              </a:solidFill>
              <a:ea typeface="Calibri"/>
              <a:cs typeface="Calibri"/>
            </a:endParaRPr>
          </a:p>
          <a:p>
            <a:endParaRPr lang="pt-BR" sz="2800" b="1">
              <a:solidFill>
                <a:srgbClr val="F0265D"/>
              </a:solidFill>
              <a:latin typeface="Consolas"/>
              <a:ea typeface="+mn-lt"/>
              <a:cs typeface="+mn-lt"/>
            </a:endParaRPr>
          </a:p>
          <a:p>
            <a:endParaRPr lang="pt-BR" sz="2400" b="1">
              <a:solidFill>
                <a:srgbClr val="F0265D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pt-BR" sz="2400">
              <a:solidFill>
                <a:srgbClr val="000000"/>
              </a:solidFill>
              <a:ea typeface="+mn-lt"/>
              <a:cs typeface="+mn-lt"/>
            </a:endParaRPr>
          </a:p>
          <a:p>
            <a:endParaRPr lang="pt-BR">
              <a:solidFill>
                <a:schemeClr val="bg1"/>
              </a:solidFill>
              <a:ea typeface="+mn-lt"/>
              <a:cs typeface="+mn-lt"/>
            </a:endParaRPr>
          </a:p>
        </p:txBody>
      </p:sp>
      <p:pic>
        <p:nvPicPr>
          <p:cNvPr id="3" name="Imagem 1" descr="Ícone&#10;&#10;O conteúdo gerado por IA pode estar incorreto.">
            <a:extLst>
              <a:ext uri="{FF2B5EF4-FFF2-40B4-BE49-F238E27FC236}">
                <a16:creationId xmlns:a16="http://schemas.microsoft.com/office/drawing/2014/main" id="{2222A945-F01D-B4E9-BDEA-397EE1FF07A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328" y="190873"/>
            <a:ext cx="1459971" cy="39245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3551BD6-1717-50DF-33BB-194CD3FA8C4E}"/>
              </a:ext>
            </a:extLst>
          </p:cNvPr>
          <p:cNvSpPr txBox="1"/>
          <p:nvPr/>
        </p:nvSpPr>
        <p:spPr>
          <a:xfrm>
            <a:off x="1769947" y="782170"/>
            <a:ext cx="70408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>
                <a:solidFill>
                  <a:srgbClr val="FFFFFF"/>
                </a:solidFill>
                <a:ea typeface="+mn-lt"/>
                <a:cs typeface="+mn-lt"/>
              </a:rPr>
              <a:t>Estruturas de Repetição - O Laço For</a:t>
            </a:r>
            <a:endParaRPr lang="pt-BR" sz="2400" b="1" u="sng">
              <a:solidFill>
                <a:srgbClr val="FFFFFF"/>
              </a:solidFill>
              <a:latin typeface="Consolas"/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3902034-197C-D7AF-A2DB-5F97E7F1D706}"/>
              </a:ext>
            </a:extLst>
          </p:cNvPr>
          <p:cNvSpPr txBox="1"/>
          <p:nvPr/>
        </p:nvSpPr>
        <p:spPr>
          <a:xfrm>
            <a:off x="7250138" y="599666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rgbClr val="FFFFFF"/>
                </a:solidFill>
              </a:rPr>
              <a:t>Prof. Gabriel Saito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9554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5F08D-75FF-B2A9-651E-2DFFB23C1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8F5BE320-3CAB-F61E-5EBF-55B69D83ECAC}"/>
              </a:ext>
            </a:extLst>
          </p:cNvPr>
          <p:cNvSpPr txBox="1"/>
          <p:nvPr/>
        </p:nvSpPr>
        <p:spPr>
          <a:xfrm>
            <a:off x="2287213" y="-1035"/>
            <a:ext cx="527680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000" b="1" err="1">
                <a:solidFill>
                  <a:schemeClr val="bg1"/>
                </a:solidFill>
                <a:ea typeface="+mn-lt"/>
                <a:cs typeface="+mn-lt"/>
              </a:rPr>
              <a:t>Coding</a:t>
            </a:r>
            <a:r>
              <a:rPr lang="pt-BR" sz="4000" b="1">
                <a:solidFill>
                  <a:schemeClr val="bg1"/>
                </a:solidFill>
                <a:ea typeface="+mn-lt"/>
                <a:cs typeface="+mn-lt"/>
              </a:rPr>
              <a:t> for Security</a:t>
            </a:r>
            <a:br>
              <a:rPr lang="pt-BR" sz="3200" b="1">
                <a:solidFill>
                  <a:schemeClr val="bg1"/>
                </a:solidFill>
                <a:ea typeface="+mn-lt"/>
                <a:cs typeface="+mn-lt"/>
              </a:rPr>
            </a:br>
            <a:endParaRPr lang="pt-BR" sz="3200" b="1">
              <a:ea typeface="+mn-lt"/>
              <a:cs typeface="+mn-lt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A8C9B37-B687-B469-F48F-03BFDBBD59D8}"/>
              </a:ext>
            </a:extLst>
          </p:cNvPr>
          <p:cNvSpPr txBox="1"/>
          <p:nvPr/>
        </p:nvSpPr>
        <p:spPr>
          <a:xfrm>
            <a:off x="222587" y="1613659"/>
            <a:ext cx="8716227" cy="72635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>
                <a:solidFill>
                  <a:srgbClr val="F0265D"/>
                </a:solidFill>
                <a:ea typeface="+mn-lt"/>
                <a:cs typeface="+mn-lt"/>
              </a:rPr>
              <a:t>Forma 1: </a:t>
            </a:r>
            <a:r>
              <a:rPr lang="pt-BR" sz="3200" b="1">
                <a:solidFill>
                  <a:srgbClr val="F0265D"/>
                </a:solidFill>
                <a:latin typeface="Consolas"/>
                <a:ea typeface="+mn-lt"/>
                <a:cs typeface="+mn-lt"/>
              </a:rPr>
              <a:t>range(fim)</a:t>
            </a:r>
            <a:endParaRPr lang="pt-BR" sz="3200" b="1" err="1">
              <a:solidFill>
                <a:srgbClr val="FFFFFF"/>
              </a:solidFill>
              <a:ea typeface="+mn-lt"/>
              <a:cs typeface="+mn-lt"/>
            </a:endParaRPr>
          </a:p>
          <a:p>
            <a:endParaRPr lang="pt-BR" sz="2800" b="1">
              <a:solidFill>
                <a:schemeClr val="bg1"/>
              </a:solidFill>
              <a:latin typeface="Consolas"/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Gera números de </a:t>
            </a:r>
            <a:r>
              <a:rPr lang="pt-BR" sz="240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0</a:t>
            </a: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 até </a:t>
            </a:r>
            <a:r>
              <a:rPr lang="pt-BR" sz="240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fim - 1</a:t>
            </a: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.</a:t>
            </a:r>
          </a:p>
          <a:p>
            <a:pPr>
              <a:buFont typeface="Arial"/>
              <a:buChar char="•"/>
            </a:pPr>
            <a:endParaRPr lang="pt-BR" sz="2400">
              <a:solidFill>
                <a:schemeClr val="bg1"/>
              </a:solidFill>
              <a:latin typeface="Calibri"/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40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range(5)</a:t>
            </a: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 gera a sequência: 0, 1, 2, 3, 4.</a:t>
            </a:r>
            <a:endParaRPr lang="pt-BR">
              <a:solidFill>
                <a:schemeClr val="bg1"/>
              </a:solidFill>
            </a:endParaRPr>
          </a:p>
          <a:p>
            <a:pPr>
              <a:buFont typeface="Arial"/>
              <a:buChar char="•"/>
            </a:pPr>
            <a:endParaRPr lang="pt-BR" sz="2400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400">
                <a:solidFill>
                  <a:srgbClr val="F0265D"/>
                </a:solidFill>
                <a:ea typeface="+mn-lt"/>
                <a:cs typeface="+mn-lt"/>
              </a:rPr>
              <a:t>Exemplo:</a:t>
            </a:r>
          </a:p>
          <a:p>
            <a:pPr marL="285750" indent="-285750">
              <a:buFont typeface="Arial"/>
              <a:buChar char="•"/>
            </a:pPr>
            <a:endParaRPr lang="pt-BR" sz="2000">
              <a:solidFill>
                <a:srgbClr val="FFFFFF"/>
              </a:solidFill>
              <a:latin typeface="Calibri"/>
              <a:ea typeface="+mn-lt"/>
              <a:cs typeface="+mn-lt"/>
            </a:endParaRPr>
          </a:p>
          <a:p>
            <a:r>
              <a:rPr lang="pt-BR" sz="2800">
                <a:solidFill>
                  <a:srgbClr val="6A9955"/>
                </a:solidFill>
                <a:latin typeface="Consolas"/>
                <a:ea typeface="Calibri"/>
                <a:cs typeface="Calibri"/>
              </a:rPr>
              <a:t># Imprime os números de 0 a 4</a:t>
            </a:r>
            <a:endParaRPr lang="pt-BR" sz="2800">
              <a:ea typeface="Calibri"/>
              <a:cs typeface="Calibri"/>
            </a:endParaRPr>
          </a:p>
          <a:p>
            <a:r>
              <a:rPr lang="pt-BR" sz="2800">
                <a:solidFill>
                  <a:srgbClr val="C586C0"/>
                </a:solidFill>
                <a:latin typeface="Consolas"/>
                <a:ea typeface="Calibri"/>
                <a:cs typeface="Calibri"/>
              </a:rPr>
              <a:t>for</a:t>
            </a:r>
            <a:r>
              <a:rPr lang="pt-BR" sz="280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pt-BR" sz="2800">
                <a:solidFill>
                  <a:srgbClr val="9CDCFE"/>
                </a:solidFill>
                <a:latin typeface="Consolas"/>
                <a:ea typeface="Calibri"/>
                <a:cs typeface="Calibri"/>
              </a:rPr>
              <a:t>numero</a:t>
            </a:r>
            <a:r>
              <a:rPr lang="pt-BR" sz="280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pt-BR" sz="2800">
                <a:solidFill>
                  <a:srgbClr val="C586C0"/>
                </a:solidFill>
                <a:latin typeface="Consolas"/>
                <a:ea typeface="Calibri"/>
                <a:cs typeface="Calibri"/>
              </a:rPr>
              <a:t>in</a:t>
            </a:r>
            <a:r>
              <a:rPr lang="pt-BR" sz="280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pt-BR" sz="2800">
                <a:solidFill>
                  <a:srgbClr val="4EC9B0"/>
                </a:solidFill>
                <a:latin typeface="Consolas"/>
                <a:ea typeface="Calibri"/>
                <a:cs typeface="Calibri"/>
              </a:rPr>
              <a:t>range</a:t>
            </a:r>
            <a:r>
              <a:rPr lang="pt-BR" sz="280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(</a:t>
            </a:r>
            <a:r>
              <a:rPr lang="pt-BR" sz="2800">
                <a:solidFill>
                  <a:srgbClr val="B5CEA8"/>
                </a:solidFill>
                <a:latin typeface="Consolas"/>
                <a:ea typeface="Calibri"/>
                <a:cs typeface="Calibri"/>
              </a:rPr>
              <a:t>5</a:t>
            </a:r>
            <a:r>
              <a:rPr lang="pt-BR" sz="280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):</a:t>
            </a:r>
            <a:endParaRPr lang="pt-BR" sz="2800">
              <a:ea typeface="Calibri"/>
              <a:cs typeface="Calibri"/>
            </a:endParaRPr>
          </a:p>
          <a:p>
            <a:r>
              <a:rPr lang="pt-BR" sz="280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    </a:t>
            </a:r>
            <a:r>
              <a:rPr lang="pt-BR" sz="2800">
                <a:solidFill>
                  <a:srgbClr val="DCDCAA"/>
                </a:solidFill>
                <a:latin typeface="Consolas"/>
                <a:ea typeface="Calibri"/>
                <a:cs typeface="Calibri"/>
              </a:rPr>
              <a:t>print</a:t>
            </a:r>
            <a:r>
              <a:rPr lang="pt-BR" sz="280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(</a:t>
            </a:r>
            <a:r>
              <a:rPr lang="pt-BR" sz="2800">
                <a:solidFill>
                  <a:srgbClr val="9CDCFE"/>
                </a:solidFill>
                <a:latin typeface="Consolas"/>
                <a:ea typeface="Calibri"/>
                <a:cs typeface="Calibri"/>
              </a:rPr>
              <a:t>numero</a:t>
            </a:r>
            <a:r>
              <a:rPr lang="pt-BR" sz="280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)</a:t>
            </a:r>
            <a:endParaRPr lang="pt-BR" sz="2800">
              <a:ea typeface="Calibri"/>
              <a:cs typeface="Calibri"/>
            </a:endParaRPr>
          </a:p>
          <a:p>
            <a:br>
              <a:rPr lang="en-US"/>
            </a:br>
            <a:endParaRPr lang="en-US"/>
          </a:p>
          <a:p>
            <a:endParaRPr lang="pt-BR" sz="2800" b="1">
              <a:solidFill>
                <a:srgbClr val="F0265D"/>
              </a:solidFill>
              <a:latin typeface="Consolas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pt-BR" sz="2400">
              <a:solidFill>
                <a:srgbClr val="FFFFFF"/>
              </a:solidFill>
              <a:latin typeface="Calibri"/>
              <a:ea typeface="+mn-lt"/>
              <a:cs typeface="+mn-lt"/>
            </a:endParaRPr>
          </a:p>
          <a:p>
            <a:endParaRPr lang="pt-BR" sz="2800" b="1">
              <a:solidFill>
                <a:srgbClr val="F0265D"/>
              </a:solidFill>
              <a:latin typeface="Consolas"/>
              <a:ea typeface="+mn-lt"/>
              <a:cs typeface="+mn-lt"/>
            </a:endParaRPr>
          </a:p>
          <a:p>
            <a:endParaRPr lang="pt-BR" sz="2400" b="1">
              <a:solidFill>
                <a:srgbClr val="F0265D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pt-BR" sz="2400">
              <a:solidFill>
                <a:srgbClr val="000000"/>
              </a:solidFill>
              <a:ea typeface="+mn-lt"/>
              <a:cs typeface="+mn-lt"/>
            </a:endParaRPr>
          </a:p>
          <a:p>
            <a:endParaRPr lang="pt-BR">
              <a:solidFill>
                <a:schemeClr val="bg1"/>
              </a:solidFill>
              <a:ea typeface="+mn-lt"/>
              <a:cs typeface="+mn-lt"/>
            </a:endParaRPr>
          </a:p>
        </p:txBody>
      </p:sp>
      <p:pic>
        <p:nvPicPr>
          <p:cNvPr id="3" name="Imagem 1" descr="Ícone&#10;&#10;O conteúdo gerado por IA pode estar incorreto.">
            <a:extLst>
              <a:ext uri="{FF2B5EF4-FFF2-40B4-BE49-F238E27FC236}">
                <a16:creationId xmlns:a16="http://schemas.microsoft.com/office/drawing/2014/main" id="{A1133031-58CE-819C-33E6-3C62A96E3A6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328" y="190873"/>
            <a:ext cx="1459971" cy="39245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0AA05B2F-DCBA-4B97-024E-1959652B4747}"/>
              </a:ext>
            </a:extLst>
          </p:cNvPr>
          <p:cNvSpPr txBox="1"/>
          <p:nvPr/>
        </p:nvSpPr>
        <p:spPr>
          <a:xfrm>
            <a:off x="1769947" y="782170"/>
            <a:ext cx="70408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>
                <a:solidFill>
                  <a:srgbClr val="FFFFFF"/>
                </a:solidFill>
                <a:ea typeface="+mn-lt"/>
                <a:cs typeface="+mn-lt"/>
              </a:rPr>
              <a:t>Estruturas de Repetição - O Laço </a:t>
            </a:r>
            <a:r>
              <a:rPr lang="pt-BR" sz="2400" b="1">
                <a:solidFill>
                  <a:srgbClr val="FFFFFF"/>
                </a:solidFill>
                <a:latin typeface="Calibri"/>
                <a:ea typeface="+mn-lt"/>
                <a:cs typeface="+mn-lt"/>
              </a:rPr>
              <a:t>For</a:t>
            </a:r>
            <a:endParaRPr lang="pt-BR" sz="2400" b="1" u="sng">
              <a:solidFill>
                <a:srgbClr val="FFFFFF"/>
              </a:solidFill>
              <a:latin typeface="Consolas"/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05BED28-24B5-50C5-A40A-9284B712AE44}"/>
              </a:ext>
            </a:extLst>
          </p:cNvPr>
          <p:cNvSpPr txBox="1"/>
          <p:nvPr/>
        </p:nvSpPr>
        <p:spPr>
          <a:xfrm>
            <a:off x="7250138" y="599666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rgbClr val="FFFFFF"/>
                </a:solidFill>
              </a:rPr>
              <a:t>Prof. Gabriel Saito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8586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36B5B-6FFF-FD44-5CA0-CD01538F4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44D5213F-DB5E-A6F7-8361-090C8DD5BDBE}"/>
              </a:ext>
            </a:extLst>
          </p:cNvPr>
          <p:cNvSpPr txBox="1"/>
          <p:nvPr/>
        </p:nvSpPr>
        <p:spPr>
          <a:xfrm>
            <a:off x="2287213" y="-1035"/>
            <a:ext cx="527680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000" b="1" err="1">
                <a:solidFill>
                  <a:schemeClr val="bg1"/>
                </a:solidFill>
                <a:ea typeface="+mn-lt"/>
                <a:cs typeface="+mn-lt"/>
              </a:rPr>
              <a:t>Coding</a:t>
            </a:r>
            <a:r>
              <a:rPr lang="pt-BR" sz="4000" b="1">
                <a:solidFill>
                  <a:schemeClr val="bg1"/>
                </a:solidFill>
                <a:ea typeface="+mn-lt"/>
                <a:cs typeface="+mn-lt"/>
              </a:rPr>
              <a:t> for Security</a:t>
            </a:r>
            <a:br>
              <a:rPr lang="pt-BR" sz="3200" b="1">
                <a:solidFill>
                  <a:schemeClr val="bg1"/>
                </a:solidFill>
                <a:ea typeface="+mn-lt"/>
                <a:cs typeface="+mn-lt"/>
              </a:rPr>
            </a:br>
            <a:endParaRPr lang="pt-BR" sz="3200" b="1">
              <a:ea typeface="+mn-lt"/>
              <a:cs typeface="+mn-lt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DB2BF10-33A9-1942-F085-799E4FFD3AB6}"/>
              </a:ext>
            </a:extLst>
          </p:cNvPr>
          <p:cNvSpPr txBox="1"/>
          <p:nvPr/>
        </p:nvSpPr>
        <p:spPr>
          <a:xfrm>
            <a:off x="222587" y="1613659"/>
            <a:ext cx="8716227" cy="72635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>
                <a:solidFill>
                  <a:srgbClr val="F0265D"/>
                </a:solidFill>
                <a:ea typeface="+mn-lt"/>
                <a:cs typeface="+mn-lt"/>
              </a:rPr>
              <a:t>Forma 2: </a:t>
            </a:r>
            <a:r>
              <a:rPr lang="pt-BR" sz="3200" b="1">
                <a:solidFill>
                  <a:srgbClr val="F0265D"/>
                </a:solidFill>
                <a:latin typeface="Consolas"/>
                <a:ea typeface="+mn-lt"/>
                <a:cs typeface="+mn-lt"/>
              </a:rPr>
              <a:t>range(inicio, fim)</a:t>
            </a:r>
            <a:endParaRPr lang="pt-BR" sz="3200" b="1" err="1">
              <a:solidFill>
                <a:srgbClr val="FFFFFF"/>
              </a:solidFill>
              <a:ea typeface="+mn-lt"/>
              <a:cs typeface="+mn-lt"/>
            </a:endParaRPr>
          </a:p>
          <a:p>
            <a:endParaRPr lang="pt-BR" sz="2800" b="1">
              <a:solidFill>
                <a:schemeClr val="bg1"/>
              </a:solidFill>
              <a:latin typeface="Consolas"/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Gera números de </a:t>
            </a:r>
            <a:r>
              <a:rPr lang="pt-BR" sz="240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inicio</a:t>
            </a: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 até </a:t>
            </a:r>
            <a:r>
              <a:rPr lang="pt-BR" sz="240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fim - 1</a:t>
            </a: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.</a:t>
            </a:r>
          </a:p>
          <a:p>
            <a:pPr>
              <a:buFont typeface="Arial"/>
              <a:buChar char="•"/>
            </a:pPr>
            <a:endParaRPr lang="pt-BR" sz="2400">
              <a:solidFill>
                <a:schemeClr val="bg1"/>
              </a:solidFill>
              <a:latin typeface="Calibri"/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40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range(1, 6)</a:t>
            </a: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 gera a sequência: 1, 2, 3, 4, 5.</a:t>
            </a:r>
            <a:endParaRPr lang="pt-BR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pt-BR" sz="2400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pt-BR" sz="2400">
                <a:solidFill>
                  <a:srgbClr val="F0265D"/>
                </a:solidFill>
                <a:ea typeface="+mn-lt"/>
                <a:cs typeface="+mn-lt"/>
              </a:rPr>
              <a:t>Exemplo:</a:t>
            </a:r>
          </a:p>
          <a:p>
            <a:pPr marL="285750" indent="-285750">
              <a:buFont typeface="Arial"/>
              <a:buChar char="•"/>
            </a:pPr>
            <a:endParaRPr lang="pt-BR" sz="2000">
              <a:solidFill>
                <a:srgbClr val="FFFFFF"/>
              </a:solidFill>
              <a:latin typeface="Calibri"/>
              <a:ea typeface="+mn-lt"/>
              <a:cs typeface="+mn-lt"/>
            </a:endParaRPr>
          </a:p>
          <a:p>
            <a:r>
              <a:rPr lang="pt-BR" sz="2800">
                <a:solidFill>
                  <a:srgbClr val="6A9955"/>
                </a:solidFill>
                <a:latin typeface="Consolas"/>
                <a:ea typeface="Calibri"/>
                <a:cs typeface="Calibri"/>
              </a:rPr>
              <a:t># Imprime os números de 1 a 5 </a:t>
            </a:r>
            <a:endParaRPr lang="pt-BR" sz="2800">
              <a:ea typeface="Calibri"/>
              <a:cs typeface="Calibri"/>
            </a:endParaRPr>
          </a:p>
          <a:p>
            <a:r>
              <a:rPr lang="pt-BR" sz="2800">
                <a:solidFill>
                  <a:srgbClr val="C586C0"/>
                </a:solidFill>
                <a:latin typeface="Consolas"/>
                <a:ea typeface="Calibri"/>
                <a:cs typeface="Calibri"/>
              </a:rPr>
              <a:t>for</a:t>
            </a:r>
            <a:r>
              <a:rPr lang="pt-BR" sz="280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pt-BR" sz="2800">
                <a:solidFill>
                  <a:srgbClr val="9CDCFE"/>
                </a:solidFill>
                <a:latin typeface="Consolas"/>
                <a:ea typeface="Calibri"/>
                <a:cs typeface="Calibri"/>
              </a:rPr>
              <a:t>numero</a:t>
            </a:r>
            <a:r>
              <a:rPr lang="pt-BR" sz="280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pt-BR" sz="2800">
                <a:solidFill>
                  <a:srgbClr val="C586C0"/>
                </a:solidFill>
                <a:latin typeface="Consolas"/>
                <a:ea typeface="Calibri"/>
                <a:cs typeface="Calibri"/>
              </a:rPr>
              <a:t>in</a:t>
            </a:r>
            <a:r>
              <a:rPr lang="pt-BR" sz="280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pt-BR" sz="2800">
                <a:solidFill>
                  <a:srgbClr val="4EC9B0"/>
                </a:solidFill>
                <a:latin typeface="Consolas"/>
                <a:ea typeface="Calibri"/>
                <a:cs typeface="Calibri"/>
              </a:rPr>
              <a:t>range</a:t>
            </a:r>
            <a:r>
              <a:rPr lang="pt-BR" sz="280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(1, 6):</a:t>
            </a:r>
            <a:endParaRPr lang="pt-BR" sz="2800">
              <a:ea typeface="Calibri"/>
              <a:cs typeface="Calibri"/>
            </a:endParaRPr>
          </a:p>
          <a:p>
            <a:r>
              <a:rPr lang="pt-BR" sz="280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    </a:t>
            </a:r>
            <a:r>
              <a:rPr lang="pt-BR" sz="2800">
                <a:solidFill>
                  <a:srgbClr val="DCDCAA"/>
                </a:solidFill>
                <a:latin typeface="Consolas"/>
                <a:ea typeface="Calibri"/>
                <a:cs typeface="Calibri"/>
              </a:rPr>
              <a:t>print</a:t>
            </a:r>
            <a:r>
              <a:rPr lang="pt-BR" sz="280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(</a:t>
            </a:r>
            <a:r>
              <a:rPr lang="pt-BR" sz="2800">
                <a:solidFill>
                  <a:srgbClr val="9CDCFE"/>
                </a:solidFill>
                <a:latin typeface="Consolas"/>
                <a:ea typeface="Calibri"/>
                <a:cs typeface="Calibri"/>
              </a:rPr>
              <a:t>numero</a:t>
            </a:r>
            <a:r>
              <a:rPr lang="pt-BR" sz="280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)</a:t>
            </a:r>
            <a:endParaRPr lang="pt-BR" sz="2800">
              <a:ea typeface="Calibri"/>
              <a:cs typeface="Calibri"/>
            </a:endParaRPr>
          </a:p>
          <a:p>
            <a:br>
              <a:rPr lang="en-US"/>
            </a:br>
            <a:endParaRPr lang="en-US"/>
          </a:p>
          <a:p>
            <a:endParaRPr lang="pt-BR" sz="2800" b="1">
              <a:solidFill>
                <a:srgbClr val="F0265D"/>
              </a:solidFill>
              <a:latin typeface="Consolas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pt-BR" sz="2400">
              <a:solidFill>
                <a:srgbClr val="FFFFFF"/>
              </a:solidFill>
              <a:latin typeface="Calibri"/>
              <a:ea typeface="+mn-lt"/>
              <a:cs typeface="+mn-lt"/>
            </a:endParaRPr>
          </a:p>
          <a:p>
            <a:endParaRPr lang="pt-BR" sz="2800" b="1">
              <a:solidFill>
                <a:srgbClr val="F0265D"/>
              </a:solidFill>
              <a:latin typeface="Consolas"/>
              <a:ea typeface="+mn-lt"/>
              <a:cs typeface="+mn-lt"/>
            </a:endParaRPr>
          </a:p>
          <a:p>
            <a:endParaRPr lang="pt-BR" sz="2400" b="1">
              <a:solidFill>
                <a:srgbClr val="F0265D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pt-BR" sz="2400">
              <a:solidFill>
                <a:srgbClr val="000000"/>
              </a:solidFill>
              <a:ea typeface="+mn-lt"/>
              <a:cs typeface="+mn-lt"/>
            </a:endParaRPr>
          </a:p>
          <a:p>
            <a:endParaRPr lang="pt-BR">
              <a:solidFill>
                <a:schemeClr val="bg1"/>
              </a:solidFill>
              <a:ea typeface="+mn-lt"/>
              <a:cs typeface="+mn-lt"/>
            </a:endParaRPr>
          </a:p>
        </p:txBody>
      </p:sp>
      <p:pic>
        <p:nvPicPr>
          <p:cNvPr id="3" name="Imagem 1" descr="Ícone&#10;&#10;O conteúdo gerado por IA pode estar incorreto.">
            <a:extLst>
              <a:ext uri="{FF2B5EF4-FFF2-40B4-BE49-F238E27FC236}">
                <a16:creationId xmlns:a16="http://schemas.microsoft.com/office/drawing/2014/main" id="{A98AD1C2-C1AC-66FB-21C3-B6B7A6E8A3E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328" y="190873"/>
            <a:ext cx="1459971" cy="39245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BD6BBC8-0D76-6CA2-7A23-1686E2F31CEF}"/>
              </a:ext>
            </a:extLst>
          </p:cNvPr>
          <p:cNvSpPr txBox="1"/>
          <p:nvPr/>
        </p:nvSpPr>
        <p:spPr>
          <a:xfrm>
            <a:off x="1769947" y="782170"/>
            <a:ext cx="70408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>
                <a:solidFill>
                  <a:srgbClr val="FFFFFF"/>
                </a:solidFill>
                <a:ea typeface="+mn-lt"/>
                <a:cs typeface="+mn-lt"/>
              </a:rPr>
              <a:t>Estruturas de Repetição - O Laço </a:t>
            </a:r>
            <a:r>
              <a:rPr lang="pt-BR" sz="2400" b="1">
                <a:solidFill>
                  <a:srgbClr val="FFFFFF"/>
                </a:solidFill>
                <a:latin typeface="Calibri"/>
                <a:ea typeface="+mn-lt"/>
                <a:cs typeface="+mn-lt"/>
              </a:rPr>
              <a:t>For</a:t>
            </a:r>
            <a:endParaRPr lang="pt-BR" sz="2400" b="1" u="sng">
              <a:solidFill>
                <a:srgbClr val="FFFFFF"/>
              </a:solidFill>
              <a:latin typeface="Consolas"/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7A03B46-06AD-2E6A-3CCE-380D1EB8203B}"/>
              </a:ext>
            </a:extLst>
          </p:cNvPr>
          <p:cNvSpPr txBox="1"/>
          <p:nvPr/>
        </p:nvSpPr>
        <p:spPr>
          <a:xfrm>
            <a:off x="7250138" y="599666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rgbClr val="FFFFFF"/>
                </a:solidFill>
              </a:rPr>
              <a:t>Prof. Gabriel Saito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4548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5514E-CFD2-006C-ED23-EDD496BAD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70A521E4-1D47-C195-59A4-346B6D5BBA05}"/>
              </a:ext>
            </a:extLst>
          </p:cNvPr>
          <p:cNvSpPr txBox="1"/>
          <p:nvPr/>
        </p:nvSpPr>
        <p:spPr>
          <a:xfrm>
            <a:off x="2287213" y="-1035"/>
            <a:ext cx="527680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000" b="1" err="1">
                <a:solidFill>
                  <a:schemeClr val="bg1"/>
                </a:solidFill>
                <a:ea typeface="+mn-lt"/>
                <a:cs typeface="+mn-lt"/>
              </a:rPr>
              <a:t>Coding</a:t>
            </a:r>
            <a:r>
              <a:rPr lang="pt-BR" sz="4000" b="1">
                <a:solidFill>
                  <a:schemeClr val="bg1"/>
                </a:solidFill>
                <a:ea typeface="+mn-lt"/>
                <a:cs typeface="+mn-lt"/>
              </a:rPr>
              <a:t> for Security</a:t>
            </a:r>
            <a:br>
              <a:rPr lang="pt-BR" sz="3200" b="1">
                <a:solidFill>
                  <a:schemeClr val="bg1"/>
                </a:solidFill>
                <a:ea typeface="+mn-lt"/>
                <a:cs typeface="+mn-lt"/>
              </a:rPr>
            </a:br>
            <a:endParaRPr lang="pt-BR" sz="3200" b="1">
              <a:ea typeface="+mn-lt"/>
              <a:cs typeface="+mn-lt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E8D3AA3-03F6-122C-0D86-7DAFE90CC695}"/>
              </a:ext>
            </a:extLst>
          </p:cNvPr>
          <p:cNvSpPr txBox="1"/>
          <p:nvPr/>
        </p:nvSpPr>
        <p:spPr>
          <a:xfrm>
            <a:off x="222587" y="1613659"/>
            <a:ext cx="8716227" cy="76328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>
                <a:solidFill>
                  <a:srgbClr val="F0265D"/>
                </a:solidFill>
                <a:ea typeface="+mn-lt"/>
                <a:cs typeface="+mn-lt"/>
              </a:rPr>
              <a:t>Forma 3: </a:t>
            </a:r>
            <a:r>
              <a:rPr lang="pt-BR" sz="3200" b="1">
                <a:solidFill>
                  <a:srgbClr val="F0265D"/>
                </a:solidFill>
                <a:latin typeface="Consolas"/>
                <a:ea typeface="+mn-lt"/>
                <a:cs typeface="+mn-lt"/>
              </a:rPr>
              <a:t>range(inicio, fim, passo)</a:t>
            </a:r>
            <a:endParaRPr lang="pt-BR" sz="3200" b="1" err="1">
              <a:solidFill>
                <a:srgbClr val="FFFFFF"/>
              </a:solidFill>
              <a:ea typeface="+mn-lt"/>
              <a:cs typeface="+mn-lt"/>
            </a:endParaRPr>
          </a:p>
          <a:p>
            <a:endParaRPr lang="pt-BR" sz="2800" b="1">
              <a:solidFill>
                <a:schemeClr val="bg1"/>
              </a:solidFill>
              <a:latin typeface="Consolas"/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Gera números de </a:t>
            </a:r>
            <a:r>
              <a:rPr lang="pt-BR" sz="240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inicio</a:t>
            </a: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 até </a:t>
            </a:r>
            <a:r>
              <a:rPr lang="pt-BR" sz="240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fim - 1</a:t>
            </a: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, pulando de </a:t>
            </a:r>
            <a:r>
              <a:rPr lang="pt-BR" sz="240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passo</a:t>
            </a: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 em </a:t>
            </a:r>
            <a:r>
              <a:rPr lang="pt-BR" sz="240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passo</a:t>
            </a: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.</a:t>
            </a:r>
          </a:p>
          <a:p>
            <a:pPr>
              <a:buFont typeface="Arial"/>
              <a:buChar char="•"/>
            </a:pPr>
            <a:endParaRPr lang="pt-BR" sz="2400">
              <a:solidFill>
                <a:schemeClr val="bg1"/>
              </a:solidFill>
              <a:latin typeface="Calibri"/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40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range(0, 11, 2)</a:t>
            </a: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 gera a sequência: 0, 2, 4, 6, 8, 10.</a:t>
            </a:r>
            <a:endParaRPr lang="pt-BR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pt-BR" sz="2400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pt-BR" sz="2400">
                <a:solidFill>
                  <a:srgbClr val="F0265D"/>
                </a:solidFill>
                <a:ea typeface="+mn-lt"/>
                <a:cs typeface="+mn-lt"/>
              </a:rPr>
              <a:t>Exemplo:</a:t>
            </a:r>
          </a:p>
          <a:p>
            <a:pPr marL="285750" indent="-285750">
              <a:buFont typeface="Arial"/>
              <a:buChar char="•"/>
            </a:pPr>
            <a:endParaRPr lang="pt-BR" sz="2000">
              <a:solidFill>
                <a:srgbClr val="FFFFFF"/>
              </a:solidFill>
              <a:latin typeface="Calibri"/>
              <a:ea typeface="+mn-lt"/>
              <a:cs typeface="+mn-lt"/>
            </a:endParaRPr>
          </a:p>
          <a:p>
            <a:r>
              <a:rPr lang="pt-BR" sz="2800">
                <a:solidFill>
                  <a:srgbClr val="6A9955"/>
                </a:solidFill>
                <a:latin typeface="Consolas"/>
                <a:ea typeface="Calibri"/>
                <a:cs typeface="Calibri"/>
              </a:rPr>
              <a:t># Imprime os números de 0 a 10</a:t>
            </a:r>
            <a:endParaRPr lang="pt-BR" sz="2800">
              <a:ea typeface="Calibri"/>
              <a:cs typeface="Calibri"/>
            </a:endParaRPr>
          </a:p>
          <a:p>
            <a:r>
              <a:rPr lang="pt-BR" sz="2800">
                <a:solidFill>
                  <a:srgbClr val="C586C0"/>
                </a:solidFill>
                <a:latin typeface="Consolas"/>
                <a:ea typeface="Calibri"/>
                <a:cs typeface="Calibri"/>
              </a:rPr>
              <a:t>for</a:t>
            </a:r>
            <a:r>
              <a:rPr lang="pt-BR" sz="280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pt-BR" sz="2800">
                <a:solidFill>
                  <a:srgbClr val="9CDCFE"/>
                </a:solidFill>
                <a:latin typeface="Consolas"/>
                <a:ea typeface="Calibri"/>
                <a:cs typeface="Calibri"/>
              </a:rPr>
              <a:t>numero</a:t>
            </a:r>
            <a:r>
              <a:rPr lang="pt-BR" sz="280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pt-BR" sz="2800">
                <a:solidFill>
                  <a:srgbClr val="C586C0"/>
                </a:solidFill>
                <a:latin typeface="Consolas"/>
                <a:ea typeface="Calibri"/>
                <a:cs typeface="Calibri"/>
              </a:rPr>
              <a:t>in</a:t>
            </a:r>
            <a:r>
              <a:rPr lang="pt-BR" sz="280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pt-BR" sz="2800">
                <a:solidFill>
                  <a:srgbClr val="4EC9B0"/>
                </a:solidFill>
                <a:latin typeface="Consolas"/>
                <a:ea typeface="Calibri"/>
                <a:cs typeface="Calibri"/>
              </a:rPr>
              <a:t>range</a:t>
            </a:r>
            <a:r>
              <a:rPr lang="pt-BR" sz="280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(0, 11, 2):</a:t>
            </a:r>
            <a:endParaRPr lang="pt-BR" sz="2800">
              <a:ea typeface="Calibri"/>
              <a:cs typeface="Calibri"/>
            </a:endParaRPr>
          </a:p>
          <a:p>
            <a:r>
              <a:rPr lang="pt-BR" sz="280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    </a:t>
            </a:r>
            <a:r>
              <a:rPr lang="pt-BR" sz="2800">
                <a:solidFill>
                  <a:srgbClr val="DCDCAA"/>
                </a:solidFill>
                <a:latin typeface="Consolas"/>
                <a:ea typeface="Calibri"/>
                <a:cs typeface="Calibri"/>
              </a:rPr>
              <a:t>print</a:t>
            </a:r>
            <a:r>
              <a:rPr lang="pt-BR" sz="280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(</a:t>
            </a:r>
            <a:r>
              <a:rPr lang="pt-BR" sz="2800">
                <a:solidFill>
                  <a:srgbClr val="9CDCFE"/>
                </a:solidFill>
                <a:latin typeface="Consolas"/>
                <a:ea typeface="Calibri"/>
                <a:cs typeface="Calibri"/>
              </a:rPr>
              <a:t>numero</a:t>
            </a:r>
            <a:r>
              <a:rPr lang="pt-BR" sz="280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)</a:t>
            </a:r>
            <a:endParaRPr lang="pt-BR" sz="2800">
              <a:ea typeface="Calibri"/>
              <a:cs typeface="Calibri"/>
            </a:endParaRPr>
          </a:p>
          <a:p>
            <a:br>
              <a:rPr lang="en-US"/>
            </a:br>
            <a:endParaRPr lang="en-US"/>
          </a:p>
          <a:p>
            <a:endParaRPr lang="pt-BR" sz="2800" b="1">
              <a:solidFill>
                <a:srgbClr val="F0265D"/>
              </a:solidFill>
              <a:latin typeface="Consolas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pt-BR" sz="2400">
              <a:solidFill>
                <a:srgbClr val="FFFFFF"/>
              </a:solidFill>
              <a:latin typeface="Calibri"/>
              <a:ea typeface="+mn-lt"/>
              <a:cs typeface="+mn-lt"/>
            </a:endParaRPr>
          </a:p>
          <a:p>
            <a:endParaRPr lang="pt-BR" sz="2800" b="1">
              <a:solidFill>
                <a:srgbClr val="F0265D"/>
              </a:solidFill>
              <a:latin typeface="Consolas"/>
              <a:ea typeface="+mn-lt"/>
              <a:cs typeface="+mn-lt"/>
            </a:endParaRPr>
          </a:p>
          <a:p>
            <a:endParaRPr lang="pt-BR" sz="2400" b="1">
              <a:solidFill>
                <a:srgbClr val="F0265D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pt-BR" sz="2400">
              <a:solidFill>
                <a:srgbClr val="000000"/>
              </a:solidFill>
              <a:ea typeface="+mn-lt"/>
              <a:cs typeface="+mn-lt"/>
            </a:endParaRPr>
          </a:p>
          <a:p>
            <a:endParaRPr lang="pt-BR">
              <a:solidFill>
                <a:schemeClr val="bg1"/>
              </a:solidFill>
              <a:ea typeface="+mn-lt"/>
              <a:cs typeface="+mn-lt"/>
            </a:endParaRPr>
          </a:p>
        </p:txBody>
      </p:sp>
      <p:pic>
        <p:nvPicPr>
          <p:cNvPr id="3" name="Imagem 1" descr="Ícone&#10;&#10;O conteúdo gerado por IA pode estar incorreto.">
            <a:extLst>
              <a:ext uri="{FF2B5EF4-FFF2-40B4-BE49-F238E27FC236}">
                <a16:creationId xmlns:a16="http://schemas.microsoft.com/office/drawing/2014/main" id="{A7AF4A20-13ED-8357-DA1B-4C66FA57C41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328" y="190873"/>
            <a:ext cx="1459971" cy="39245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ED8EB022-B2BB-B95F-BC18-006F03DA2E46}"/>
              </a:ext>
            </a:extLst>
          </p:cNvPr>
          <p:cNvSpPr txBox="1"/>
          <p:nvPr/>
        </p:nvSpPr>
        <p:spPr>
          <a:xfrm>
            <a:off x="1769947" y="782170"/>
            <a:ext cx="70408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>
                <a:solidFill>
                  <a:srgbClr val="FFFFFF"/>
                </a:solidFill>
                <a:ea typeface="+mn-lt"/>
                <a:cs typeface="+mn-lt"/>
              </a:rPr>
              <a:t>Estruturas de Repetição - O Laço For</a:t>
            </a:r>
            <a:endParaRPr lang="pt-BR" sz="2400" b="1" u="sng">
              <a:solidFill>
                <a:srgbClr val="FFFFFF"/>
              </a:solidFill>
              <a:latin typeface="Consolas"/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B937675-CA36-4363-9987-E048F6A00A10}"/>
              </a:ext>
            </a:extLst>
          </p:cNvPr>
          <p:cNvSpPr txBox="1"/>
          <p:nvPr/>
        </p:nvSpPr>
        <p:spPr>
          <a:xfrm>
            <a:off x="7250138" y="599666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rgbClr val="FFFFFF"/>
                </a:solidFill>
              </a:rPr>
              <a:t>Prof. Gabriel Saito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5094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1DAC6-37D2-FCA6-F66C-5680C1C19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02900213-C2E5-54CE-6D46-6D0845B65DE6}"/>
              </a:ext>
            </a:extLst>
          </p:cNvPr>
          <p:cNvSpPr txBox="1"/>
          <p:nvPr/>
        </p:nvSpPr>
        <p:spPr>
          <a:xfrm>
            <a:off x="2287213" y="-1035"/>
            <a:ext cx="527680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000" b="1" err="1">
                <a:solidFill>
                  <a:schemeClr val="bg1"/>
                </a:solidFill>
                <a:ea typeface="+mn-lt"/>
                <a:cs typeface="+mn-lt"/>
              </a:rPr>
              <a:t>Coding</a:t>
            </a:r>
            <a:r>
              <a:rPr lang="pt-BR" sz="4000" b="1">
                <a:solidFill>
                  <a:schemeClr val="bg1"/>
                </a:solidFill>
                <a:ea typeface="+mn-lt"/>
                <a:cs typeface="+mn-lt"/>
              </a:rPr>
              <a:t> for Security</a:t>
            </a:r>
            <a:br>
              <a:rPr lang="pt-BR" sz="3200" b="1">
                <a:solidFill>
                  <a:schemeClr val="bg1"/>
                </a:solidFill>
                <a:ea typeface="+mn-lt"/>
                <a:cs typeface="+mn-lt"/>
              </a:rPr>
            </a:br>
            <a:endParaRPr lang="pt-BR" sz="3200" b="1">
              <a:ea typeface="+mn-lt"/>
              <a:cs typeface="+mn-lt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C9D1E85-260F-E4D2-B5D9-0D55BF8E3A18}"/>
              </a:ext>
            </a:extLst>
          </p:cNvPr>
          <p:cNvSpPr txBox="1"/>
          <p:nvPr/>
        </p:nvSpPr>
        <p:spPr>
          <a:xfrm>
            <a:off x="222587" y="1613659"/>
            <a:ext cx="8716227" cy="77559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>
                <a:solidFill>
                  <a:srgbClr val="F0265D"/>
                </a:solidFill>
                <a:ea typeface="+mn-lt"/>
                <a:cs typeface="+mn-lt"/>
              </a:rPr>
              <a:t>Atividade Prática 1: Tabuada</a:t>
            </a:r>
            <a:endParaRPr lang="pt-BR" sz="3200" b="1" err="1">
              <a:solidFill>
                <a:srgbClr val="FFFFFF"/>
              </a:solidFill>
              <a:ea typeface="+mn-lt"/>
              <a:cs typeface="+mn-lt"/>
            </a:endParaRPr>
          </a:p>
          <a:p>
            <a:endParaRPr lang="pt-BR" sz="2800" b="1">
              <a:solidFill>
                <a:srgbClr val="F0265D"/>
              </a:solidFill>
              <a:latin typeface="Consolas"/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400">
                <a:solidFill>
                  <a:srgbClr val="F0265D"/>
                </a:solidFill>
                <a:ea typeface="+mn-lt"/>
                <a:cs typeface="+mn-lt"/>
              </a:rPr>
              <a:t>Desafio:</a:t>
            </a:r>
          </a:p>
          <a:p>
            <a:pPr>
              <a:buFont typeface="Arial"/>
              <a:buChar char="•"/>
            </a:pP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Peça ao usuário para digitar um número inteiro.</a:t>
            </a:r>
            <a:endParaRPr lang="pt-BR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pt-BR" sz="2400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Use um laço </a:t>
            </a:r>
            <a:r>
              <a:rPr lang="pt-BR" sz="240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for</a:t>
            </a: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 e a função </a:t>
            </a:r>
            <a:r>
              <a:rPr lang="pt-BR" sz="240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range()</a:t>
            </a: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 para exibir a tabuada desse número, do 1 ao 10.</a:t>
            </a:r>
            <a:endParaRPr lang="pt-BR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400">
                <a:solidFill>
                  <a:srgbClr val="F0265D"/>
                </a:solidFill>
                <a:ea typeface="Calibri"/>
                <a:cs typeface="Calibri"/>
              </a:rPr>
              <a:t>Exemplo:</a:t>
            </a:r>
            <a:endParaRPr lang="en-US"/>
          </a:p>
          <a:p>
            <a:r>
              <a:rPr lang="pt-BR" sz="2800">
                <a:solidFill>
                  <a:srgbClr val="6A9955"/>
                </a:solidFill>
                <a:ea typeface="+mn-lt"/>
                <a:cs typeface="+mn-lt"/>
              </a:rPr>
              <a:t>7 x 1 = 7 </a:t>
            </a:r>
            <a:br>
              <a:rPr lang="pt-BR" sz="2800">
                <a:solidFill>
                  <a:srgbClr val="6A9955"/>
                </a:solidFill>
                <a:ea typeface="+mn-lt"/>
                <a:cs typeface="+mn-lt"/>
              </a:rPr>
            </a:br>
            <a:r>
              <a:rPr lang="pt-BR" sz="2800">
                <a:solidFill>
                  <a:srgbClr val="6A9955"/>
                </a:solidFill>
                <a:ea typeface="+mn-lt"/>
                <a:cs typeface="+mn-lt"/>
              </a:rPr>
              <a:t>7 x 2 = 14 </a:t>
            </a:r>
            <a:br>
              <a:rPr lang="pt-BR" sz="2800">
                <a:solidFill>
                  <a:srgbClr val="6A9955"/>
                </a:solidFill>
                <a:ea typeface="+mn-lt"/>
                <a:cs typeface="+mn-lt"/>
              </a:rPr>
            </a:br>
            <a:r>
              <a:rPr lang="pt-BR" sz="2800">
                <a:solidFill>
                  <a:srgbClr val="6A9955"/>
                </a:solidFill>
                <a:ea typeface="+mn-lt"/>
                <a:cs typeface="+mn-lt"/>
              </a:rPr>
              <a:t>... </a:t>
            </a:r>
            <a:br>
              <a:rPr lang="pt-BR" sz="2800">
                <a:solidFill>
                  <a:srgbClr val="6A9955"/>
                </a:solidFill>
                <a:ea typeface="+mn-lt"/>
                <a:cs typeface="+mn-lt"/>
              </a:rPr>
            </a:br>
            <a:r>
              <a:rPr lang="pt-BR" sz="2800">
                <a:solidFill>
                  <a:srgbClr val="6A9955"/>
                </a:solidFill>
                <a:ea typeface="+mn-lt"/>
                <a:cs typeface="+mn-lt"/>
              </a:rPr>
              <a:t>7 x 10 = 70</a:t>
            </a:r>
            <a:endParaRPr lang="pt-BR"/>
          </a:p>
          <a:p>
            <a:pPr>
              <a:buFont typeface="Arial"/>
              <a:buChar char="•"/>
            </a:pPr>
            <a:br>
              <a:rPr lang="en-US"/>
            </a:br>
            <a:endParaRPr lang="en-US"/>
          </a:p>
          <a:p>
            <a:endParaRPr lang="pt-BR" sz="2800" b="1">
              <a:solidFill>
                <a:srgbClr val="F0265D"/>
              </a:solidFill>
              <a:latin typeface="Consolas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pt-BR" sz="2400">
              <a:solidFill>
                <a:srgbClr val="FFFFFF"/>
              </a:solidFill>
              <a:latin typeface="Calibri"/>
              <a:ea typeface="+mn-lt"/>
              <a:cs typeface="+mn-lt"/>
            </a:endParaRPr>
          </a:p>
          <a:p>
            <a:endParaRPr lang="pt-BR" sz="2800" b="1">
              <a:solidFill>
                <a:srgbClr val="F0265D"/>
              </a:solidFill>
              <a:latin typeface="Consolas"/>
              <a:ea typeface="+mn-lt"/>
              <a:cs typeface="+mn-lt"/>
            </a:endParaRPr>
          </a:p>
          <a:p>
            <a:endParaRPr lang="pt-BR" sz="2400" b="1">
              <a:solidFill>
                <a:srgbClr val="F0265D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pt-BR" sz="2400">
              <a:solidFill>
                <a:srgbClr val="000000"/>
              </a:solidFill>
              <a:ea typeface="+mn-lt"/>
              <a:cs typeface="+mn-lt"/>
            </a:endParaRPr>
          </a:p>
          <a:p>
            <a:endParaRPr lang="pt-BR">
              <a:solidFill>
                <a:schemeClr val="bg1"/>
              </a:solidFill>
              <a:ea typeface="+mn-lt"/>
              <a:cs typeface="+mn-lt"/>
            </a:endParaRPr>
          </a:p>
        </p:txBody>
      </p:sp>
      <p:pic>
        <p:nvPicPr>
          <p:cNvPr id="3" name="Imagem 1" descr="Ícone&#10;&#10;O conteúdo gerado por IA pode estar incorreto.">
            <a:extLst>
              <a:ext uri="{FF2B5EF4-FFF2-40B4-BE49-F238E27FC236}">
                <a16:creationId xmlns:a16="http://schemas.microsoft.com/office/drawing/2014/main" id="{6CD5DF8E-DF87-FB6D-5534-75D4091AC11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328" y="190873"/>
            <a:ext cx="1459971" cy="39245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1B6E08B-2609-DF14-2158-0DE870029F80}"/>
              </a:ext>
            </a:extLst>
          </p:cNvPr>
          <p:cNvSpPr txBox="1"/>
          <p:nvPr/>
        </p:nvSpPr>
        <p:spPr>
          <a:xfrm>
            <a:off x="1769947" y="782170"/>
            <a:ext cx="70408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>
                <a:solidFill>
                  <a:srgbClr val="FFFFFF"/>
                </a:solidFill>
                <a:ea typeface="+mn-lt"/>
                <a:cs typeface="+mn-lt"/>
              </a:rPr>
              <a:t>Estruturas de Repetição - O Laço For</a:t>
            </a:r>
            <a:endParaRPr lang="pt-BR" sz="2400" b="1" u="sng">
              <a:solidFill>
                <a:srgbClr val="FFFFFF"/>
              </a:solidFill>
              <a:latin typeface="Consolas"/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5F4F4ED-A468-881C-0D4D-C384883E7805}"/>
              </a:ext>
            </a:extLst>
          </p:cNvPr>
          <p:cNvSpPr txBox="1"/>
          <p:nvPr/>
        </p:nvSpPr>
        <p:spPr>
          <a:xfrm>
            <a:off x="7250138" y="599666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rgbClr val="FFFFFF"/>
                </a:solidFill>
              </a:rPr>
              <a:t>Prof. Gabriel Saito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0460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88DAE-B5CF-B829-DB8A-D032B815B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5BA50046-4D74-203C-85A3-0F5746D35385}"/>
              </a:ext>
            </a:extLst>
          </p:cNvPr>
          <p:cNvSpPr txBox="1"/>
          <p:nvPr/>
        </p:nvSpPr>
        <p:spPr>
          <a:xfrm>
            <a:off x="2287213" y="-1035"/>
            <a:ext cx="527680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000" b="1" err="1">
                <a:solidFill>
                  <a:schemeClr val="bg1"/>
                </a:solidFill>
                <a:ea typeface="+mn-lt"/>
                <a:cs typeface="+mn-lt"/>
              </a:rPr>
              <a:t>Coding</a:t>
            </a:r>
            <a:r>
              <a:rPr lang="pt-BR" sz="4000" b="1">
                <a:solidFill>
                  <a:schemeClr val="bg1"/>
                </a:solidFill>
                <a:ea typeface="+mn-lt"/>
                <a:cs typeface="+mn-lt"/>
              </a:rPr>
              <a:t> for Security</a:t>
            </a:r>
            <a:br>
              <a:rPr lang="pt-BR" sz="3200" b="1">
                <a:solidFill>
                  <a:schemeClr val="bg1"/>
                </a:solidFill>
                <a:ea typeface="+mn-lt"/>
                <a:cs typeface="+mn-lt"/>
              </a:rPr>
            </a:br>
            <a:endParaRPr lang="pt-BR" sz="3200" b="1">
              <a:ea typeface="+mn-lt"/>
              <a:cs typeface="+mn-lt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7E15035-4A66-6797-FA90-70DC55072A52}"/>
              </a:ext>
            </a:extLst>
          </p:cNvPr>
          <p:cNvSpPr txBox="1"/>
          <p:nvPr/>
        </p:nvSpPr>
        <p:spPr>
          <a:xfrm>
            <a:off x="222587" y="1613659"/>
            <a:ext cx="8716227" cy="707886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>
                <a:solidFill>
                  <a:srgbClr val="F0265D"/>
                </a:solidFill>
                <a:ea typeface="+mn-lt"/>
                <a:cs typeface="+mn-lt"/>
              </a:rPr>
              <a:t>Solução da Atividade 1</a:t>
            </a:r>
            <a:endParaRPr lang="pt-BR" b="1">
              <a:ea typeface="+mn-lt"/>
              <a:cs typeface="+mn-lt"/>
            </a:endParaRPr>
          </a:p>
          <a:p>
            <a:endParaRPr lang="pt-BR" sz="5400" b="1">
              <a:solidFill>
                <a:srgbClr val="F0265D"/>
              </a:solidFill>
              <a:latin typeface="Consolas"/>
              <a:ea typeface="+mn-lt"/>
              <a:cs typeface="+mn-lt"/>
            </a:endParaRPr>
          </a:p>
          <a:p>
            <a:r>
              <a:rPr lang="pt-BR" sz="2400" err="1">
                <a:solidFill>
                  <a:srgbClr val="9CDCFE"/>
                </a:solidFill>
                <a:latin typeface="Consolas"/>
                <a:ea typeface="+mn-lt"/>
                <a:cs typeface="+mn-lt"/>
              </a:rPr>
              <a:t>numero_tabuada</a:t>
            </a:r>
            <a:r>
              <a:rPr lang="pt-BR" sz="2400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pt-BR" sz="2400">
                <a:solidFill>
                  <a:srgbClr val="D4D4D4"/>
                </a:solidFill>
                <a:latin typeface="Consolas"/>
                <a:ea typeface="+mn-lt"/>
                <a:cs typeface="+mn-lt"/>
              </a:rPr>
              <a:t>=</a:t>
            </a:r>
            <a:r>
              <a:rPr lang="pt-BR" sz="2400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pt-BR" sz="2400" err="1">
                <a:solidFill>
                  <a:srgbClr val="4EC9B0"/>
                </a:solidFill>
                <a:latin typeface="Consolas"/>
                <a:ea typeface="+mn-lt"/>
                <a:cs typeface="+mn-lt"/>
              </a:rPr>
              <a:t>int</a:t>
            </a:r>
            <a:r>
              <a:rPr lang="pt-BR" sz="2400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(</a:t>
            </a:r>
            <a:r>
              <a:rPr lang="pt-BR" sz="2400">
                <a:solidFill>
                  <a:srgbClr val="DCDCAA"/>
                </a:solidFill>
                <a:latin typeface="Consolas"/>
                <a:ea typeface="+mn-lt"/>
                <a:cs typeface="+mn-lt"/>
              </a:rPr>
              <a:t>input</a:t>
            </a:r>
            <a:r>
              <a:rPr lang="pt-BR" sz="2400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(</a:t>
            </a:r>
            <a:r>
              <a:rPr lang="pt-BR" sz="2400">
                <a:solidFill>
                  <a:srgbClr val="CE9178"/>
                </a:solidFill>
                <a:latin typeface="Consolas"/>
                <a:ea typeface="+mn-lt"/>
                <a:cs typeface="+mn-lt"/>
              </a:rPr>
              <a:t>"Digite um número para ver a tabuada</a:t>
            </a:r>
            <a:r>
              <a:rPr lang="pt-BR" sz="2400">
                <a:solidFill>
                  <a:srgbClr val="CE9178"/>
                </a:solidFill>
                <a:latin typeface="Consolas"/>
                <a:ea typeface="Calibri"/>
                <a:cs typeface="Calibri"/>
              </a:rPr>
              <a:t>: "</a:t>
            </a:r>
            <a:r>
              <a:rPr lang="pt-BR" sz="2400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))</a:t>
            </a:r>
            <a:endParaRPr lang="pt-BR" sz="2400">
              <a:solidFill>
                <a:srgbClr val="CCCCCC"/>
              </a:solidFill>
              <a:latin typeface="Consolas"/>
              <a:ea typeface="Calibri"/>
              <a:cs typeface="Calibri"/>
            </a:endParaRPr>
          </a:p>
          <a:p>
            <a:endParaRPr lang="en-US"/>
          </a:p>
          <a:p>
            <a:r>
              <a:rPr lang="pt-BR" sz="2400">
                <a:solidFill>
                  <a:srgbClr val="DCDCAA"/>
                </a:solidFill>
                <a:latin typeface="Consolas"/>
                <a:ea typeface="Calibri"/>
                <a:cs typeface="Calibri"/>
              </a:rPr>
              <a:t>print</a:t>
            </a:r>
            <a:r>
              <a:rPr lang="pt-BR" sz="240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(</a:t>
            </a:r>
            <a:r>
              <a:rPr lang="pt-BR" sz="2400">
                <a:solidFill>
                  <a:srgbClr val="569CD6"/>
                </a:solidFill>
                <a:latin typeface="Consolas"/>
                <a:ea typeface="Calibri"/>
                <a:cs typeface="Calibri"/>
              </a:rPr>
              <a:t>f</a:t>
            </a:r>
            <a:r>
              <a:rPr lang="pt-BR" sz="2400">
                <a:solidFill>
                  <a:srgbClr val="CE9178"/>
                </a:solidFill>
                <a:latin typeface="Consolas"/>
                <a:ea typeface="Calibri"/>
                <a:cs typeface="Calibri"/>
              </a:rPr>
              <a:t>"--- Tabuada do </a:t>
            </a:r>
            <a:r>
              <a:rPr lang="pt-BR" sz="2400">
                <a:solidFill>
                  <a:srgbClr val="569CD6"/>
                </a:solidFill>
                <a:latin typeface="Consolas"/>
                <a:ea typeface="Calibri"/>
                <a:cs typeface="Calibri"/>
              </a:rPr>
              <a:t>{</a:t>
            </a:r>
            <a:r>
              <a:rPr lang="pt-BR" sz="2400" err="1">
                <a:solidFill>
                  <a:srgbClr val="9CDCFE"/>
                </a:solidFill>
                <a:latin typeface="Consolas"/>
                <a:ea typeface="Calibri"/>
                <a:cs typeface="Calibri"/>
              </a:rPr>
              <a:t>numero_tabuada</a:t>
            </a:r>
            <a:r>
              <a:rPr lang="pt-BR" sz="2400">
                <a:solidFill>
                  <a:srgbClr val="569CD6"/>
                </a:solidFill>
                <a:latin typeface="Consolas"/>
                <a:ea typeface="Calibri"/>
                <a:cs typeface="Calibri"/>
              </a:rPr>
              <a:t>}</a:t>
            </a:r>
            <a:r>
              <a:rPr lang="pt-BR" sz="2400">
                <a:solidFill>
                  <a:srgbClr val="CE9178"/>
                </a:solidFill>
                <a:latin typeface="Consolas"/>
                <a:ea typeface="Calibri"/>
                <a:cs typeface="Calibri"/>
              </a:rPr>
              <a:t> ---"</a:t>
            </a:r>
            <a:r>
              <a:rPr lang="pt-BR" sz="2400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)</a:t>
            </a:r>
            <a:endParaRPr lang="en-US" sz="2400">
              <a:ea typeface="Calibri"/>
              <a:cs typeface="Calibri"/>
            </a:endParaRPr>
          </a:p>
          <a:p>
            <a:r>
              <a:rPr lang="pt-BR" sz="2400">
                <a:solidFill>
                  <a:srgbClr val="C586C0"/>
                </a:solidFill>
                <a:latin typeface="Consolas"/>
                <a:ea typeface="+mn-lt"/>
                <a:cs typeface="+mn-lt"/>
              </a:rPr>
              <a:t>for</a:t>
            </a:r>
            <a:r>
              <a:rPr lang="pt-BR" sz="2400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pt-BR" sz="2400">
                <a:solidFill>
                  <a:srgbClr val="9CDCFE"/>
                </a:solidFill>
                <a:latin typeface="Consolas"/>
                <a:ea typeface="+mn-lt"/>
                <a:cs typeface="+mn-lt"/>
              </a:rPr>
              <a:t>i</a:t>
            </a:r>
            <a:r>
              <a:rPr lang="pt-BR" sz="2400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pt-BR" sz="2400">
                <a:solidFill>
                  <a:srgbClr val="C586C0"/>
                </a:solidFill>
                <a:latin typeface="Consolas"/>
                <a:ea typeface="+mn-lt"/>
                <a:cs typeface="+mn-lt"/>
              </a:rPr>
              <a:t>in</a:t>
            </a:r>
            <a:r>
              <a:rPr lang="pt-BR" sz="2400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pt-BR" sz="2400">
                <a:solidFill>
                  <a:srgbClr val="4EC9B0"/>
                </a:solidFill>
                <a:latin typeface="Consolas"/>
                <a:ea typeface="+mn-lt"/>
                <a:cs typeface="+mn-lt"/>
              </a:rPr>
              <a:t>range</a:t>
            </a:r>
            <a:r>
              <a:rPr lang="pt-BR" sz="2400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(</a:t>
            </a:r>
            <a:r>
              <a:rPr lang="pt-BR" sz="2400">
                <a:solidFill>
                  <a:srgbClr val="B5CEA8"/>
                </a:solidFill>
                <a:latin typeface="Consolas"/>
                <a:ea typeface="+mn-lt"/>
                <a:cs typeface="+mn-lt"/>
              </a:rPr>
              <a:t>1</a:t>
            </a:r>
            <a:r>
              <a:rPr lang="pt-BR" sz="2400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, </a:t>
            </a:r>
            <a:r>
              <a:rPr lang="pt-BR" sz="2400">
                <a:solidFill>
                  <a:srgbClr val="B5CEA8"/>
                </a:solidFill>
                <a:latin typeface="Consolas"/>
                <a:ea typeface="+mn-lt"/>
                <a:cs typeface="+mn-lt"/>
              </a:rPr>
              <a:t>11</a:t>
            </a:r>
            <a:r>
              <a:rPr lang="pt-BR" sz="2400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):</a:t>
            </a:r>
            <a:endParaRPr lang="pt-BR" sz="2400">
              <a:ea typeface="Calibri"/>
              <a:cs typeface="Calibri"/>
            </a:endParaRPr>
          </a:p>
          <a:p>
            <a:r>
              <a:rPr lang="pt-BR" sz="2400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    </a:t>
            </a:r>
            <a:r>
              <a:rPr lang="pt-BR" sz="2400">
                <a:solidFill>
                  <a:srgbClr val="9CDCFE"/>
                </a:solidFill>
                <a:latin typeface="Consolas"/>
                <a:ea typeface="+mn-lt"/>
                <a:cs typeface="+mn-lt"/>
              </a:rPr>
              <a:t>resultado</a:t>
            </a:r>
            <a:r>
              <a:rPr lang="pt-BR" sz="2400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pt-BR" sz="2400">
                <a:solidFill>
                  <a:srgbClr val="D4D4D4"/>
                </a:solidFill>
                <a:latin typeface="Consolas"/>
                <a:ea typeface="+mn-lt"/>
                <a:cs typeface="+mn-lt"/>
              </a:rPr>
              <a:t>=</a:t>
            </a:r>
            <a:r>
              <a:rPr lang="pt-BR" sz="2400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pt-BR" sz="2400" err="1">
                <a:solidFill>
                  <a:srgbClr val="9CDCFE"/>
                </a:solidFill>
                <a:latin typeface="Consolas"/>
                <a:ea typeface="+mn-lt"/>
                <a:cs typeface="+mn-lt"/>
              </a:rPr>
              <a:t>numero_tabuada</a:t>
            </a:r>
            <a:r>
              <a:rPr lang="pt-BR" sz="2400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pt-BR" sz="2400">
                <a:solidFill>
                  <a:srgbClr val="D4D4D4"/>
                </a:solidFill>
                <a:latin typeface="Consolas"/>
                <a:ea typeface="+mn-lt"/>
                <a:cs typeface="+mn-lt"/>
              </a:rPr>
              <a:t>*</a:t>
            </a:r>
            <a:r>
              <a:rPr lang="pt-BR" sz="2400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pt-BR" sz="2400">
                <a:solidFill>
                  <a:srgbClr val="9CDCFE"/>
                </a:solidFill>
                <a:latin typeface="Consolas"/>
                <a:ea typeface="+mn-lt"/>
                <a:cs typeface="+mn-lt"/>
              </a:rPr>
              <a:t>i</a:t>
            </a:r>
            <a:endParaRPr lang="pt-BR" sz="2400">
              <a:ea typeface="Calibri"/>
              <a:cs typeface="Calibri"/>
            </a:endParaRPr>
          </a:p>
          <a:p>
            <a:r>
              <a:rPr lang="pt-BR" sz="2400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    </a:t>
            </a:r>
            <a:r>
              <a:rPr lang="pt-BR" sz="2400">
                <a:solidFill>
                  <a:srgbClr val="DCDCAA"/>
                </a:solidFill>
                <a:latin typeface="Consolas"/>
                <a:ea typeface="+mn-lt"/>
                <a:cs typeface="+mn-lt"/>
              </a:rPr>
              <a:t>print</a:t>
            </a:r>
            <a:r>
              <a:rPr lang="pt-BR" sz="2400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(</a:t>
            </a:r>
            <a:r>
              <a:rPr lang="pt-BR" sz="2400">
                <a:solidFill>
                  <a:srgbClr val="569CD6"/>
                </a:solidFill>
                <a:latin typeface="Consolas"/>
                <a:ea typeface="+mn-lt"/>
                <a:cs typeface="+mn-lt"/>
              </a:rPr>
              <a:t>f</a:t>
            </a:r>
            <a:r>
              <a:rPr lang="pt-BR" sz="2400">
                <a:solidFill>
                  <a:srgbClr val="CE9178"/>
                </a:solidFill>
                <a:latin typeface="Consolas"/>
                <a:ea typeface="+mn-lt"/>
                <a:cs typeface="+mn-lt"/>
              </a:rPr>
              <a:t>"</a:t>
            </a:r>
            <a:r>
              <a:rPr lang="pt-BR" sz="2400">
                <a:solidFill>
                  <a:srgbClr val="569CD6"/>
                </a:solidFill>
                <a:latin typeface="Consolas"/>
                <a:ea typeface="+mn-lt"/>
                <a:cs typeface="+mn-lt"/>
              </a:rPr>
              <a:t>{</a:t>
            </a:r>
            <a:r>
              <a:rPr lang="pt-BR" sz="2400" err="1">
                <a:solidFill>
                  <a:srgbClr val="9CDCFE"/>
                </a:solidFill>
                <a:latin typeface="Consolas"/>
                <a:ea typeface="+mn-lt"/>
                <a:cs typeface="+mn-lt"/>
              </a:rPr>
              <a:t>numero_tabuada</a:t>
            </a:r>
            <a:r>
              <a:rPr lang="pt-BR" sz="2400">
                <a:solidFill>
                  <a:srgbClr val="569CD6"/>
                </a:solidFill>
                <a:latin typeface="Consolas"/>
                <a:ea typeface="+mn-lt"/>
                <a:cs typeface="+mn-lt"/>
              </a:rPr>
              <a:t>}</a:t>
            </a:r>
            <a:r>
              <a:rPr lang="pt-BR" sz="2400">
                <a:solidFill>
                  <a:srgbClr val="CE9178"/>
                </a:solidFill>
                <a:latin typeface="Consolas"/>
                <a:ea typeface="+mn-lt"/>
                <a:cs typeface="+mn-lt"/>
              </a:rPr>
              <a:t> x </a:t>
            </a:r>
            <a:r>
              <a:rPr lang="pt-BR" sz="2400">
                <a:solidFill>
                  <a:srgbClr val="569CD6"/>
                </a:solidFill>
                <a:latin typeface="Consolas"/>
                <a:ea typeface="+mn-lt"/>
                <a:cs typeface="+mn-lt"/>
              </a:rPr>
              <a:t>{</a:t>
            </a:r>
            <a:r>
              <a:rPr lang="pt-BR" sz="2400">
                <a:solidFill>
                  <a:srgbClr val="9CDCFE"/>
                </a:solidFill>
                <a:latin typeface="Consolas"/>
                <a:ea typeface="+mn-lt"/>
                <a:cs typeface="+mn-lt"/>
              </a:rPr>
              <a:t>i</a:t>
            </a:r>
            <a:r>
              <a:rPr lang="pt-BR" sz="2400">
                <a:solidFill>
                  <a:srgbClr val="569CD6"/>
                </a:solidFill>
                <a:latin typeface="Consolas"/>
                <a:ea typeface="+mn-lt"/>
                <a:cs typeface="+mn-lt"/>
              </a:rPr>
              <a:t>}</a:t>
            </a:r>
            <a:r>
              <a:rPr lang="pt-BR" sz="2400">
                <a:solidFill>
                  <a:srgbClr val="CE9178"/>
                </a:solidFill>
                <a:latin typeface="Consolas"/>
                <a:ea typeface="+mn-lt"/>
                <a:cs typeface="+mn-lt"/>
              </a:rPr>
              <a:t> = </a:t>
            </a:r>
            <a:r>
              <a:rPr lang="pt-BR" sz="2400">
                <a:solidFill>
                  <a:srgbClr val="569CD6"/>
                </a:solidFill>
                <a:latin typeface="Consolas"/>
                <a:ea typeface="+mn-lt"/>
                <a:cs typeface="+mn-lt"/>
              </a:rPr>
              <a:t>{</a:t>
            </a:r>
            <a:r>
              <a:rPr lang="pt-BR" sz="2400">
                <a:solidFill>
                  <a:srgbClr val="9CDCFE"/>
                </a:solidFill>
                <a:latin typeface="Consolas"/>
                <a:ea typeface="+mn-lt"/>
                <a:cs typeface="+mn-lt"/>
              </a:rPr>
              <a:t>resultado</a:t>
            </a:r>
            <a:r>
              <a:rPr lang="pt-BR" sz="2400">
                <a:solidFill>
                  <a:srgbClr val="569CD6"/>
                </a:solidFill>
                <a:latin typeface="Consolas"/>
                <a:ea typeface="+mn-lt"/>
                <a:cs typeface="+mn-lt"/>
              </a:rPr>
              <a:t>}</a:t>
            </a:r>
            <a:r>
              <a:rPr lang="pt-BR" sz="2400">
                <a:solidFill>
                  <a:srgbClr val="CE9178"/>
                </a:solidFill>
                <a:latin typeface="Consolas"/>
                <a:ea typeface="+mn-lt"/>
                <a:cs typeface="+mn-lt"/>
              </a:rPr>
              <a:t>"</a:t>
            </a:r>
            <a:r>
              <a:rPr lang="pt-BR" sz="2400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)</a:t>
            </a:r>
            <a:endParaRPr lang="pt-BR" sz="240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pt-BR" sz="2400">
              <a:solidFill>
                <a:srgbClr val="F0265D"/>
              </a:solidFill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br>
              <a:rPr lang="en-US"/>
            </a:br>
            <a:endParaRPr lang="en-US"/>
          </a:p>
          <a:p>
            <a:endParaRPr lang="pt-BR" sz="2800" b="1">
              <a:solidFill>
                <a:srgbClr val="F0265D"/>
              </a:solidFill>
              <a:latin typeface="Consolas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pt-BR" sz="2400">
              <a:solidFill>
                <a:srgbClr val="FFFFFF"/>
              </a:solidFill>
              <a:latin typeface="Calibri"/>
              <a:ea typeface="+mn-lt"/>
              <a:cs typeface="+mn-lt"/>
            </a:endParaRPr>
          </a:p>
          <a:p>
            <a:endParaRPr lang="pt-BR" sz="2800" b="1">
              <a:solidFill>
                <a:srgbClr val="F0265D"/>
              </a:solidFill>
              <a:latin typeface="Consolas"/>
              <a:ea typeface="+mn-lt"/>
              <a:cs typeface="+mn-lt"/>
            </a:endParaRPr>
          </a:p>
          <a:p>
            <a:endParaRPr lang="pt-BR" sz="2400" b="1">
              <a:solidFill>
                <a:srgbClr val="F0265D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pt-BR" sz="2400">
              <a:solidFill>
                <a:srgbClr val="000000"/>
              </a:solidFill>
              <a:ea typeface="+mn-lt"/>
              <a:cs typeface="+mn-lt"/>
            </a:endParaRPr>
          </a:p>
          <a:p>
            <a:endParaRPr lang="pt-BR">
              <a:solidFill>
                <a:schemeClr val="bg1"/>
              </a:solidFill>
              <a:ea typeface="+mn-lt"/>
              <a:cs typeface="+mn-lt"/>
            </a:endParaRPr>
          </a:p>
        </p:txBody>
      </p:sp>
      <p:pic>
        <p:nvPicPr>
          <p:cNvPr id="3" name="Imagem 1" descr="Ícone&#10;&#10;O conteúdo gerado por IA pode estar incorreto.">
            <a:extLst>
              <a:ext uri="{FF2B5EF4-FFF2-40B4-BE49-F238E27FC236}">
                <a16:creationId xmlns:a16="http://schemas.microsoft.com/office/drawing/2014/main" id="{98252E57-160F-8E36-3F57-A5864CF170D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328" y="190873"/>
            <a:ext cx="1459971" cy="39245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6973AE8C-B3CB-1314-2C7B-DD5D70C0C09F}"/>
              </a:ext>
            </a:extLst>
          </p:cNvPr>
          <p:cNvSpPr txBox="1"/>
          <p:nvPr/>
        </p:nvSpPr>
        <p:spPr>
          <a:xfrm>
            <a:off x="1769947" y="782170"/>
            <a:ext cx="70408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>
                <a:solidFill>
                  <a:srgbClr val="FFFFFF"/>
                </a:solidFill>
                <a:ea typeface="+mn-lt"/>
                <a:cs typeface="+mn-lt"/>
              </a:rPr>
              <a:t>Estruturas de Repetição - O Laço </a:t>
            </a:r>
            <a:r>
              <a:rPr lang="pt-BR" sz="2400" b="1">
                <a:solidFill>
                  <a:srgbClr val="FFFFFF"/>
                </a:solidFill>
                <a:latin typeface="Calibri"/>
                <a:ea typeface="+mn-lt"/>
                <a:cs typeface="+mn-lt"/>
              </a:rPr>
              <a:t>For</a:t>
            </a:r>
            <a:endParaRPr lang="pt-BR" sz="2400" b="1" u="sng">
              <a:solidFill>
                <a:srgbClr val="FFFFFF"/>
              </a:solidFill>
              <a:latin typeface="Consolas"/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BA62D29-DB07-CC69-9407-4A956720B70D}"/>
              </a:ext>
            </a:extLst>
          </p:cNvPr>
          <p:cNvSpPr txBox="1"/>
          <p:nvPr/>
        </p:nvSpPr>
        <p:spPr>
          <a:xfrm>
            <a:off x="7250138" y="599666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rgbClr val="FFFFFF"/>
                </a:solidFill>
              </a:rPr>
              <a:t>Prof. Gabriel Saito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98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4FA78-F304-7B6B-0EBC-02B208BD7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DAABC87B-2547-B7BF-C362-9C66D94F78B8}"/>
              </a:ext>
            </a:extLst>
          </p:cNvPr>
          <p:cNvSpPr txBox="1"/>
          <p:nvPr/>
        </p:nvSpPr>
        <p:spPr>
          <a:xfrm>
            <a:off x="2287213" y="-1035"/>
            <a:ext cx="527680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000" b="1" err="1">
                <a:solidFill>
                  <a:schemeClr val="bg1"/>
                </a:solidFill>
                <a:ea typeface="+mn-lt"/>
                <a:cs typeface="+mn-lt"/>
              </a:rPr>
              <a:t>Coding</a:t>
            </a:r>
            <a:r>
              <a:rPr lang="pt-BR" sz="4000" b="1">
                <a:solidFill>
                  <a:schemeClr val="bg1"/>
                </a:solidFill>
                <a:ea typeface="+mn-lt"/>
                <a:cs typeface="+mn-lt"/>
              </a:rPr>
              <a:t> for Security</a:t>
            </a:r>
            <a:br>
              <a:rPr lang="pt-BR" sz="3200" b="1">
                <a:solidFill>
                  <a:schemeClr val="bg1"/>
                </a:solidFill>
                <a:ea typeface="+mn-lt"/>
                <a:cs typeface="+mn-lt"/>
              </a:rPr>
            </a:br>
            <a:endParaRPr lang="pt-BR" sz="3200" b="1">
              <a:ea typeface="+mn-lt"/>
              <a:cs typeface="+mn-lt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C4BDB09-7098-DB94-1177-A1BF9724D192}"/>
              </a:ext>
            </a:extLst>
          </p:cNvPr>
          <p:cNvSpPr txBox="1"/>
          <p:nvPr/>
        </p:nvSpPr>
        <p:spPr>
          <a:xfrm>
            <a:off x="222587" y="1419757"/>
            <a:ext cx="8716227" cy="71096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>
                <a:solidFill>
                  <a:srgbClr val="F0265D"/>
                </a:solidFill>
                <a:ea typeface="+mn-lt"/>
                <a:cs typeface="+mn-lt"/>
              </a:rPr>
              <a:t>Iterando sobre </a:t>
            </a:r>
            <a:r>
              <a:rPr lang="pt-BR" sz="3200" b="1" err="1">
                <a:solidFill>
                  <a:srgbClr val="F0265D"/>
                </a:solidFill>
                <a:ea typeface="+mn-lt"/>
                <a:cs typeface="+mn-lt"/>
              </a:rPr>
              <a:t>Strings</a:t>
            </a:r>
            <a:br>
              <a:rPr lang="pt-BR" sz="3200" b="1">
                <a:solidFill>
                  <a:srgbClr val="F0265D"/>
                </a:solidFill>
                <a:ea typeface="+mn-lt"/>
                <a:cs typeface="+mn-lt"/>
              </a:rPr>
            </a:br>
            <a:endParaRPr lang="pt-BR" b="1" err="1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pt-BR" sz="2400">
                <a:solidFill>
                  <a:srgbClr val="F0265D"/>
                </a:solidFill>
                <a:ea typeface="+mn-lt"/>
                <a:cs typeface="+mn-lt"/>
              </a:rPr>
              <a:t>O laço </a:t>
            </a:r>
            <a:r>
              <a:rPr lang="pt-BR" sz="2400">
                <a:solidFill>
                  <a:srgbClr val="F0265D"/>
                </a:solidFill>
                <a:latin typeface="Consolas"/>
                <a:ea typeface="+mn-lt"/>
                <a:cs typeface="+mn-lt"/>
              </a:rPr>
              <a:t>for</a:t>
            </a:r>
            <a:r>
              <a:rPr lang="pt-BR" sz="2400">
                <a:solidFill>
                  <a:srgbClr val="F0265D"/>
                </a:solidFill>
                <a:ea typeface="+mn-lt"/>
                <a:cs typeface="+mn-lt"/>
              </a:rPr>
              <a:t> não serve apenas para números! Ele pode percorrer qualquer sequência, como os caracteres de uma </a:t>
            </a:r>
            <a:r>
              <a:rPr lang="pt-BR" sz="2400" err="1">
                <a:solidFill>
                  <a:srgbClr val="F0265D"/>
                </a:solidFill>
                <a:ea typeface="+mn-lt"/>
                <a:cs typeface="+mn-lt"/>
              </a:rPr>
              <a:t>string</a:t>
            </a:r>
            <a:r>
              <a:rPr lang="pt-BR" sz="2400">
                <a:solidFill>
                  <a:srgbClr val="F0265D"/>
                </a:solidFill>
                <a:ea typeface="+mn-lt"/>
                <a:cs typeface="+mn-lt"/>
              </a:rPr>
              <a:t>.</a:t>
            </a:r>
            <a:br>
              <a:rPr lang="pt-BR" sz="2400">
                <a:solidFill>
                  <a:srgbClr val="F0265D"/>
                </a:solidFill>
                <a:ea typeface="+mn-lt"/>
                <a:cs typeface="+mn-lt"/>
              </a:rPr>
            </a:br>
            <a:endParaRPr lang="pt-BR" sz="2400">
              <a:solidFill>
                <a:srgbClr val="F0265D"/>
              </a:solidFill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pt-BR" sz="2400">
                <a:solidFill>
                  <a:srgbClr val="F0265D"/>
                </a:solidFill>
                <a:latin typeface="Calibri"/>
                <a:ea typeface="Calibri"/>
                <a:cs typeface="Calibri"/>
              </a:rPr>
              <a:t>Exemplo:</a:t>
            </a:r>
          </a:p>
          <a:p>
            <a:r>
              <a:rPr lang="pt-BR">
                <a:solidFill>
                  <a:srgbClr val="9CDCFE"/>
                </a:solidFill>
                <a:latin typeface="Consolas"/>
                <a:ea typeface="Calibri"/>
                <a:cs typeface="Calibri"/>
              </a:rPr>
              <a:t>palavra</a:t>
            </a:r>
            <a:r>
              <a:rPr lang="pt-BR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pt-BR">
                <a:solidFill>
                  <a:srgbClr val="D4D4D4"/>
                </a:solidFill>
                <a:latin typeface="Consolas"/>
                <a:ea typeface="Calibri"/>
                <a:cs typeface="Calibri"/>
              </a:rPr>
              <a:t>=</a:t>
            </a:r>
            <a:r>
              <a:rPr lang="pt-BR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pt-BR">
                <a:solidFill>
                  <a:srgbClr val="CE9178"/>
                </a:solidFill>
                <a:latin typeface="Consolas"/>
                <a:ea typeface="Calibri"/>
                <a:cs typeface="Calibri"/>
              </a:rPr>
              <a:t>"Python"</a:t>
            </a:r>
            <a:endParaRPr lang="pt-BR">
              <a:solidFill>
                <a:srgbClr val="F0265D"/>
              </a:solidFill>
              <a:latin typeface="Calibri"/>
              <a:ea typeface="Calibri"/>
              <a:cs typeface="Calibri"/>
            </a:endParaRPr>
          </a:p>
          <a:p>
            <a:r>
              <a:rPr lang="pt-BR">
                <a:solidFill>
                  <a:srgbClr val="C586C0"/>
                </a:solidFill>
                <a:latin typeface="Consolas"/>
                <a:ea typeface="Calibri"/>
                <a:cs typeface="Calibri"/>
              </a:rPr>
              <a:t>for</a:t>
            </a:r>
            <a:r>
              <a:rPr lang="pt-BR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pt-BR">
                <a:solidFill>
                  <a:srgbClr val="9CDCFE"/>
                </a:solidFill>
                <a:latin typeface="Consolas"/>
                <a:ea typeface="Calibri"/>
                <a:cs typeface="Calibri"/>
              </a:rPr>
              <a:t>letra</a:t>
            </a:r>
            <a:r>
              <a:rPr lang="pt-BR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pt-BR">
                <a:solidFill>
                  <a:srgbClr val="C586C0"/>
                </a:solidFill>
                <a:latin typeface="Consolas"/>
                <a:ea typeface="Calibri"/>
                <a:cs typeface="Calibri"/>
              </a:rPr>
              <a:t>in</a:t>
            </a:r>
            <a:r>
              <a:rPr lang="pt-BR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pt-BR">
                <a:solidFill>
                  <a:srgbClr val="9CDCFE"/>
                </a:solidFill>
                <a:latin typeface="Consolas"/>
                <a:ea typeface="Calibri"/>
                <a:cs typeface="Calibri"/>
              </a:rPr>
              <a:t>palavra</a:t>
            </a:r>
            <a:r>
              <a:rPr lang="pt-BR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:</a:t>
            </a:r>
            <a:endParaRPr lang="pt-BR">
              <a:ea typeface="Calibri"/>
              <a:cs typeface="Calibri"/>
            </a:endParaRPr>
          </a:p>
          <a:p>
            <a:r>
              <a:rPr lang="pt-BR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    </a:t>
            </a:r>
            <a:r>
              <a:rPr lang="pt-BR">
                <a:solidFill>
                  <a:srgbClr val="DCDCAA"/>
                </a:solidFill>
                <a:latin typeface="Consolas"/>
                <a:ea typeface="Calibri"/>
                <a:cs typeface="Calibri"/>
              </a:rPr>
              <a:t>print</a:t>
            </a:r>
            <a:r>
              <a:rPr lang="pt-BR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(</a:t>
            </a:r>
            <a:r>
              <a:rPr lang="pt-BR">
                <a:solidFill>
                  <a:srgbClr val="9CDCFE"/>
                </a:solidFill>
                <a:latin typeface="Consolas"/>
                <a:ea typeface="Calibri"/>
                <a:cs typeface="Calibri"/>
              </a:rPr>
              <a:t>letra</a:t>
            </a:r>
            <a:r>
              <a:rPr lang="pt-BR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)</a:t>
            </a:r>
            <a:endParaRPr lang="pt-BR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pt-BR" sz="2400">
                <a:solidFill>
                  <a:srgbClr val="F0265D"/>
                </a:solidFill>
                <a:ea typeface="+mn-lt"/>
                <a:cs typeface="+mn-lt"/>
              </a:rPr>
              <a:t>Saída:</a:t>
            </a:r>
            <a:endParaRPr lang="pt-BR" sz="2400">
              <a:solidFill>
                <a:srgbClr val="F0265D"/>
              </a:solidFill>
              <a:latin typeface="Calibri"/>
              <a:ea typeface="Calibri"/>
              <a:cs typeface="Calibri"/>
            </a:endParaRPr>
          </a:p>
          <a:p>
            <a:r>
              <a:rPr lang="pt-BR">
                <a:solidFill>
                  <a:srgbClr val="FFFFFF"/>
                </a:solidFill>
                <a:ea typeface="+mn-lt"/>
                <a:cs typeface="+mn-lt"/>
              </a:rPr>
              <a:t>P</a:t>
            </a:r>
            <a:br>
              <a:rPr lang="pt-BR">
                <a:ea typeface="+mn-lt"/>
                <a:cs typeface="+mn-lt"/>
              </a:rPr>
            </a:br>
            <a:r>
              <a:rPr lang="pt-BR">
                <a:solidFill>
                  <a:srgbClr val="FFFFFF"/>
                </a:solidFill>
                <a:ea typeface="+mn-lt"/>
                <a:cs typeface="+mn-lt"/>
              </a:rPr>
              <a:t>y </a:t>
            </a:r>
          </a:p>
          <a:p>
            <a:r>
              <a:rPr lang="pt-BR">
                <a:solidFill>
                  <a:srgbClr val="FFFFFF"/>
                </a:solidFill>
                <a:ea typeface="+mn-lt"/>
                <a:cs typeface="+mn-lt"/>
              </a:rPr>
              <a:t>t </a:t>
            </a:r>
          </a:p>
          <a:p>
            <a:r>
              <a:rPr lang="pt-BR">
                <a:solidFill>
                  <a:srgbClr val="FFFFFF"/>
                </a:solidFill>
                <a:ea typeface="+mn-lt"/>
                <a:cs typeface="+mn-lt"/>
              </a:rPr>
              <a:t>h </a:t>
            </a:r>
          </a:p>
          <a:p>
            <a:r>
              <a:rPr lang="pt-BR">
                <a:solidFill>
                  <a:srgbClr val="FFFFFF"/>
                </a:solidFill>
                <a:ea typeface="+mn-lt"/>
                <a:cs typeface="+mn-lt"/>
              </a:rPr>
              <a:t>o </a:t>
            </a:r>
          </a:p>
          <a:p>
            <a:r>
              <a:rPr lang="pt-BR">
                <a:solidFill>
                  <a:srgbClr val="FFFFFF"/>
                </a:solidFill>
                <a:ea typeface="+mn-lt"/>
                <a:cs typeface="+mn-lt"/>
              </a:rPr>
              <a:t>n </a:t>
            </a:r>
            <a:endParaRPr lang="pt-BR" sz="2000">
              <a:solidFill>
                <a:srgbClr val="FFFFFF"/>
              </a:solidFill>
              <a:latin typeface="Calibri"/>
              <a:ea typeface="+mn-lt"/>
              <a:cs typeface="+mn-lt"/>
            </a:endParaRPr>
          </a:p>
          <a:p>
            <a:endParaRPr lang="pt-BR" sz="2800" b="1">
              <a:solidFill>
                <a:srgbClr val="F0265D"/>
              </a:solidFill>
              <a:latin typeface="Consolas"/>
              <a:ea typeface="+mn-lt"/>
              <a:cs typeface="+mn-lt"/>
            </a:endParaRPr>
          </a:p>
          <a:p>
            <a:endParaRPr lang="pt-BR" sz="2400" b="1">
              <a:solidFill>
                <a:srgbClr val="F0265D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pt-BR" sz="2400">
              <a:solidFill>
                <a:srgbClr val="000000"/>
              </a:solidFill>
              <a:ea typeface="+mn-lt"/>
              <a:cs typeface="+mn-lt"/>
            </a:endParaRPr>
          </a:p>
          <a:p>
            <a:endParaRPr lang="pt-BR">
              <a:solidFill>
                <a:schemeClr val="bg1"/>
              </a:solidFill>
              <a:ea typeface="+mn-lt"/>
              <a:cs typeface="+mn-lt"/>
            </a:endParaRPr>
          </a:p>
        </p:txBody>
      </p:sp>
      <p:pic>
        <p:nvPicPr>
          <p:cNvPr id="3" name="Imagem 1" descr="Ícone&#10;&#10;O conteúdo gerado por IA pode estar incorreto.">
            <a:extLst>
              <a:ext uri="{FF2B5EF4-FFF2-40B4-BE49-F238E27FC236}">
                <a16:creationId xmlns:a16="http://schemas.microsoft.com/office/drawing/2014/main" id="{6B4BCF3E-FE37-C414-AE83-911A620DB99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328" y="190873"/>
            <a:ext cx="1459971" cy="39245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0E90139B-4E3A-514C-3546-838A72B7F8D1}"/>
              </a:ext>
            </a:extLst>
          </p:cNvPr>
          <p:cNvSpPr txBox="1"/>
          <p:nvPr/>
        </p:nvSpPr>
        <p:spPr>
          <a:xfrm>
            <a:off x="1769947" y="782170"/>
            <a:ext cx="70408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>
                <a:solidFill>
                  <a:srgbClr val="FFFFFF"/>
                </a:solidFill>
                <a:ea typeface="+mn-lt"/>
                <a:cs typeface="+mn-lt"/>
              </a:rPr>
              <a:t>Estruturas de Repetição - O Laço For</a:t>
            </a:r>
            <a:endParaRPr lang="pt-BR" sz="2400" b="1" u="sng">
              <a:solidFill>
                <a:srgbClr val="FFFFFF"/>
              </a:solidFill>
              <a:latin typeface="Consolas"/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52EFCC1-14BE-788D-2E13-3E0E564BA1C4}"/>
              </a:ext>
            </a:extLst>
          </p:cNvPr>
          <p:cNvSpPr txBox="1"/>
          <p:nvPr/>
        </p:nvSpPr>
        <p:spPr>
          <a:xfrm>
            <a:off x="7250138" y="599666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rgbClr val="FFFFFF"/>
                </a:solidFill>
              </a:rPr>
              <a:t>Prof. Gabriel Saito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2743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093AC-0FE9-2EEC-97AE-1FB910FEA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B56AD9CB-DA3F-8FDA-92E9-F510A9E202E8}"/>
              </a:ext>
            </a:extLst>
          </p:cNvPr>
          <p:cNvSpPr txBox="1"/>
          <p:nvPr/>
        </p:nvSpPr>
        <p:spPr>
          <a:xfrm>
            <a:off x="2287213" y="-1035"/>
            <a:ext cx="527680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000" b="1" err="1">
                <a:solidFill>
                  <a:schemeClr val="bg1"/>
                </a:solidFill>
                <a:ea typeface="+mn-lt"/>
                <a:cs typeface="+mn-lt"/>
              </a:rPr>
              <a:t>Coding</a:t>
            </a:r>
            <a:r>
              <a:rPr lang="pt-BR" sz="4000" b="1">
                <a:solidFill>
                  <a:schemeClr val="bg1"/>
                </a:solidFill>
                <a:ea typeface="+mn-lt"/>
                <a:cs typeface="+mn-lt"/>
              </a:rPr>
              <a:t> for Security</a:t>
            </a:r>
            <a:br>
              <a:rPr lang="pt-BR" sz="3200" b="1">
                <a:solidFill>
                  <a:schemeClr val="bg1"/>
                </a:solidFill>
                <a:ea typeface="+mn-lt"/>
                <a:cs typeface="+mn-lt"/>
              </a:rPr>
            </a:br>
            <a:endParaRPr lang="pt-BR" sz="3200" b="1">
              <a:ea typeface="+mn-lt"/>
              <a:cs typeface="+mn-lt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FAD97EC-8831-66BD-F316-565D3CAA5650}"/>
              </a:ext>
            </a:extLst>
          </p:cNvPr>
          <p:cNvSpPr txBox="1"/>
          <p:nvPr/>
        </p:nvSpPr>
        <p:spPr>
          <a:xfrm>
            <a:off x="222587" y="1419757"/>
            <a:ext cx="8716227" cy="55707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>
                <a:solidFill>
                  <a:srgbClr val="F0265D"/>
                </a:solidFill>
                <a:ea typeface="+mn-lt"/>
                <a:cs typeface="+mn-lt"/>
              </a:rPr>
              <a:t>Atividade Prática 2: Contador de Vogais</a:t>
            </a:r>
            <a:br>
              <a:rPr lang="pt-BR" sz="3200" b="1">
                <a:solidFill>
                  <a:srgbClr val="F0265D"/>
                </a:solidFill>
                <a:ea typeface="+mn-lt"/>
                <a:cs typeface="+mn-lt"/>
              </a:rPr>
            </a:br>
            <a:endParaRPr lang="pt-BR" b="1">
              <a:solidFill>
                <a:schemeClr val="bg1"/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Peça ao usuário para digitar uma palavra.     </a:t>
            </a:r>
            <a:r>
              <a:rPr lang="pt-BR" sz="2400">
                <a:solidFill>
                  <a:srgbClr val="FF0000"/>
                </a:solidFill>
                <a:ea typeface="+mn-lt"/>
                <a:cs typeface="+mn-lt"/>
              </a:rPr>
              <a:t> .</a:t>
            </a:r>
            <a:r>
              <a:rPr lang="pt-BR" sz="2400" err="1">
                <a:solidFill>
                  <a:srgbClr val="FF0000"/>
                </a:solidFill>
                <a:ea typeface="+mn-lt"/>
                <a:cs typeface="+mn-lt"/>
              </a:rPr>
              <a:t>lower</a:t>
            </a:r>
            <a:r>
              <a:rPr lang="pt-BR" sz="2400">
                <a:solidFill>
                  <a:srgbClr val="FF0000"/>
                </a:solidFill>
                <a:ea typeface="+mn-lt"/>
                <a:cs typeface="+mn-lt"/>
              </a:rPr>
              <a:t>()</a:t>
            </a:r>
          </a:p>
          <a:p>
            <a:pPr marL="457200" indent="-457200">
              <a:buAutoNum type="arabicPeriod"/>
            </a:pPr>
            <a:endParaRPr lang="pt-BR" sz="2400">
              <a:solidFill>
                <a:schemeClr val="bg1"/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Crie uma variável contadora para as vogais, inicializada com 0.</a:t>
            </a:r>
            <a:endParaRPr lang="pt-BR">
              <a:solidFill>
                <a:schemeClr val="bg1"/>
              </a:solidFill>
              <a:ea typeface="Calibri"/>
              <a:cs typeface="Calibri"/>
            </a:endParaRPr>
          </a:p>
          <a:p>
            <a:pPr marL="457200" indent="-457200">
              <a:buAutoNum type="arabicPeriod"/>
            </a:pPr>
            <a:endParaRPr lang="pt-BR" sz="2400">
              <a:solidFill>
                <a:schemeClr val="bg1"/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Use um laço </a:t>
            </a:r>
            <a:r>
              <a:rPr lang="pt-BR" sz="240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for</a:t>
            </a: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 para percorrer cada letra da palavra.</a:t>
            </a:r>
            <a:endParaRPr lang="pt-BR">
              <a:solidFill>
                <a:schemeClr val="bg1"/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endParaRPr lang="pt-BR" sz="2400">
              <a:solidFill>
                <a:schemeClr val="bg1"/>
              </a:solidFill>
              <a:ea typeface="Calibri"/>
              <a:cs typeface="Calibri"/>
            </a:endParaRPr>
          </a:p>
          <a:p>
            <a:pPr marL="457200" indent="-457200">
              <a:buAutoNum type="arabicPeriod"/>
            </a:pP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Se a letra for uma vogal (a, e, i, o, u), incremente o contador.</a:t>
            </a:r>
            <a:endParaRPr lang="pt-BR">
              <a:solidFill>
                <a:schemeClr val="bg1"/>
              </a:solidFill>
              <a:ea typeface="Calibri"/>
              <a:cs typeface="Calibri"/>
            </a:endParaRPr>
          </a:p>
          <a:p>
            <a:pPr marL="457200" indent="-457200">
              <a:buAutoNum type="arabicPeriod"/>
            </a:pPr>
            <a:endParaRPr lang="pt-BR" sz="2400">
              <a:solidFill>
                <a:schemeClr val="bg1"/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pt-BR" sz="2400">
                <a:solidFill>
                  <a:schemeClr val="bg1"/>
                </a:solidFill>
                <a:ea typeface="+mn-lt"/>
                <a:cs typeface="+mn-lt"/>
              </a:rPr>
              <a:t>No final, exiba o número total de vogais.</a:t>
            </a:r>
            <a:endParaRPr lang="pt-BR">
              <a:solidFill>
                <a:schemeClr val="bg1"/>
              </a:solidFill>
              <a:ea typeface="Calibri"/>
              <a:cs typeface="Calibri"/>
            </a:endParaRPr>
          </a:p>
          <a:p>
            <a:pPr marL="457200" indent="-457200">
              <a:buAutoNum type="arabicPeriod"/>
            </a:pPr>
            <a:endParaRPr lang="pt-BR" sz="2400">
              <a:solidFill>
                <a:schemeClr val="bg1"/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endParaRPr lang="pt-BR" sz="2400" b="1">
              <a:solidFill>
                <a:schemeClr val="bg1"/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endParaRPr lang="pt-BR" sz="2400">
              <a:solidFill>
                <a:schemeClr val="bg1"/>
              </a:solidFill>
              <a:ea typeface="+mn-lt"/>
              <a:cs typeface="+mn-lt"/>
            </a:endParaRPr>
          </a:p>
          <a:p>
            <a:pPr marL="342900" indent="-342900">
              <a:buAutoNum type="arabicPeriod"/>
            </a:pPr>
            <a:endParaRPr lang="pt-BR">
              <a:solidFill>
                <a:schemeClr val="bg1"/>
              </a:solidFill>
              <a:ea typeface="+mn-lt"/>
              <a:cs typeface="+mn-lt"/>
            </a:endParaRPr>
          </a:p>
        </p:txBody>
      </p:sp>
      <p:pic>
        <p:nvPicPr>
          <p:cNvPr id="3" name="Imagem 1" descr="Ícone&#10;&#10;O conteúdo gerado por IA pode estar incorreto.">
            <a:extLst>
              <a:ext uri="{FF2B5EF4-FFF2-40B4-BE49-F238E27FC236}">
                <a16:creationId xmlns:a16="http://schemas.microsoft.com/office/drawing/2014/main" id="{C97E1A03-8209-01A8-108C-D325C8AC298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328" y="190873"/>
            <a:ext cx="1459971" cy="39245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5B6AAA5-5494-884F-B4F8-6D7D69451D7D}"/>
              </a:ext>
            </a:extLst>
          </p:cNvPr>
          <p:cNvSpPr txBox="1"/>
          <p:nvPr/>
        </p:nvSpPr>
        <p:spPr>
          <a:xfrm>
            <a:off x="1769947" y="782170"/>
            <a:ext cx="70408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>
                <a:solidFill>
                  <a:srgbClr val="FFFFFF"/>
                </a:solidFill>
                <a:ea typeface="+mn-lt"/>
                <a:cs typeface="+mn-lt"/>
              </a:rPr>
              <a:t>Estruturas de Repetição - O Laço For</a:t>
            </a:r>
            <a:endParaRPr lang="pt-BR" sz="2400" b="1" u="sng">
              <a:solidFill>
                <a:srgbClr val="FFFFFF"/>
              </a:solidFill>
              <a:latin typeface="Consolas"/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0412022-DF25-E382-4AA6-93D3435BFF61}"/>
              </a:ext>
            </a:extLst>
          </p:cNvPr>
          <p:cNvSpPr txBox="1"/>
          <p:nvPr/>
        </p:nvSpPr>
        <p:spPr>
          <a:xfrm>
            <a:off x="7250138" y="599666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rgbClr val="FFFFFF"/>
                </a:solidFill>
              </a:rPr>
              <a:t>Prof. Gabriel Saito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5289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B7439-5876-23C2-6BBC-9AB8D93BF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400E45FB-65EF-86B8-5A3B-13429C2E1BC6}"/>
              </a:ext>
            </a:extLst>
          </p:cNvPr>
          <p:cNvSpPr txBox="1"/>
          <p:nvPr/>
        </p:nvSpPr>
        <p:spPr>
          <a:xfrm>
            <a:off x="2287213" y="-1035"/>
            <a:ext cx="527680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000" b="1" err="1">
                <a:solidFill>
                  <a:schemeClr val="bg1"/>
                </a:solidFill>
                <a:ea typeface="+mn-lt"/>
                <a:cs typeface="+mn-lt"/>
              </a:rPr>
              <a:t>Coding</a:t>
            </a:r>
            <a:r>
              <a:rPr lang="pt-BR" sz="4000" b="1">
                <a:solidFill>
                  <a:schemeClr val="bg1"/>
                </a:solidFill>
                <a:ea typeface="+mn-lt"/>
                <a:cs typeface="+mn-lt"/>
              </a:rPr>
              <a:t> for Security</a:t>
            </a:r>
            <a:br>
              <a:rPr lang="pt-BR" sz="3200" b="1">
                <a:solidFill>
                  <a:schemeClr val="bg1"/>
                </a:solidFill>
                <a:ea typeface="+mn-lt"/>
                <a:cs typeface="+mn-lt"/>
              </a:rPr>
            </a:br>
            <a:endParaRPr lang="pt-BR" sz="3200" b="1">
              <a:ea typeface="+mn-lt"/>
              <a:cs typeface="+mn-lt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806657D-3A56-2C17-15C7-C93787CDC6C9}"/>
              </a:ext>
            </a:extLst>
          </p:cNvPr>
          <p:cNvSpPr txBox="1"/>
          <p:nvPr/>
        </p:nvSpPr>
        <p:spPr>
          <a:xfrm>
            <a:off x="222587" y="1419757"/>
            <a:ext cx="8716227" cy="56015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>
                <a:solidFill>
                  <a:srgbClr val="F0265D"/>
                </a:solidFill>
                <a:ea typeface="+mn-lt"/>
                <a:cs typeface="+mn-lt"/>
              </a:rPr>
              <a:t>Solução da Atividade 2</a:t>
            </a:r>
            <a:br>
              <a:rPr lang="pt-BR" sz="3200" b="1">
                <a:solidFill>
                  <a:srgbClr val="F0265D"/>
                </a:solidFill>
                <a:ea typeface="+mn-lt"/>
                <a:cs typeface="+mn-lt"/>
              </a:rPr>
            </a:br>
            <a:endParaRPr lang="pt-BR" sz="3600" b="1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pt-BR" sz="2000">
                <a:solidFill>
                  <a:srgbClr val="9CDCFE"/>
                </a:solidFill>
                <a:latin typeface="Consolas"/>
                <a:ea typeface="Calibri"/>
                <a:cs typeface="Calibri"/>
              </a:rPr>
              <a:t>palavra</a:t>
            </a:r>
            <a:r>
              <a:rPr lang="pt-BR" sz="200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pt-BR" sz="2000">
                <a:solidFill>
                  <a:srgbClr val="D4D4D4"/>
                </a:solidFill>
                <a:latin typeface="Consolas"/>
                <a:ea typeface="Calibri"/>
                <a:cs typeface="Calibri"/>
              </a:rPr>
              <a:t>=</a:t>
            </a:r>
            <a:r>
              <a:rPr lang="pt-BR" sz="200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pt-BR" sz="2000">
                <a:solidFill>
                  <a:srgbClr val="DCDCAA"/>
                </a:solidFill>
                <a:latin typeface="Consolas"/>
                <a:ea typeface="Calibri"/>
                <a:cs typeface="Calibri"/>
              </a:rPr>
              <a:t>input</a:t>
            </a:r>
            <a:r>
              <a:rPr lang="pt-BR" sz="200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(</a:t>
            </a:r>
            <a:r>
              <a:rPr lang="pt-BR" sz="2000">
                <a:solidFill>
                  <a:srgbClr val="CE9178"/>
                </a:solidFill>
                <a:latin typeface="Consolas"/>
                <a:ea typeface="Calibri"/>
                <a:cs typeface="Calibri"/>
              </a:rPr>
              <a:t>"Digite uma palavra: "</a:t>
            </a:r>
            <a:r>
              <a:rPr lang="pt-BR" sz="200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).</a:t>
            </a:r>
            <a:r>
              <a:rPr lang="pt-BR" sz="2000" err="1">
                <a:solidFill>
                  <a:srgbClr val="DCDCAA"/>
                </a:solidFill>
                <a:latin typeface="Consolas"/>
                <a:ea typeface="Calibri"/>
                <a:cs typeface="Calibri"/>
              </a:rPr>
              <a:t>lower</a:t>
            </a:r>
            <a:r>
              <a:rPr lang="pt-BR" sz="200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()</a:t>
            </a:r>
            <a:endParaRPr lang="pt-BR" sz="200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pt-BR" sz="2000">
                <a:solidFill>
                  <a:srgbClr val="9CDCFE"/>
                </a:solidFill>
                <a:latin typeface="Consolas"/>
                <a:ea typeface="Calibri"/>
                <a:cs typeface="Calibri"/>
              </a:rPr>
              <a:t>vogais</a:t>
            </a:r>
            <a:r>
              <a:rPr lang="pt-BR" sz="200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pt-BR" sz="2000">
                <a:solidFill>
                  <a:srgbClr val="D4D4D4"/>
                </a:solidFill>
                <a:latin typeface="Consolas"/>
                <a:ea typeface="Calibri"/>
                <a:cs typeface="Calibri"/>
              </a:rPr>
              <a:t>=</a:t>
            </a:r>
            <a:r>
              <a:rPr lang="pt-BR" sz="200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pt-BR" sz="2000">
                <a:solidFill>
                  <a:srgbClr val="CE9178"/>
                </a:solidFill>
                <a:latin typeface="Consolas"/>
                <a:ea typeface="Calibri"/>
                <a:cs typeface="Calibri"/>
              </a:rPr>
              <a:t>"</a:t>
            </a:r>
            <a:r>
              <a:rPr lang="pt-BR" sz="2000" err="1">
                <a:solidFill>
                  <a:srgbClr val="CE9178"/>
                </a:solidFill>
                <a:latin typeface="Consolas"/>
                <a:ea typeface="Calibri"/>
                <a:cs typeface="Calibri"/>
              </a:rPr>
              <a:t>aeiou</a:t>
            </a:r>
            <a:r>
              <a:rPr lang="pt-BR" sz="2000">
                <a:solidFill>
                  <a:srgbClr val="CE9178"/>
                </a:solidFill>
                <a:latin typeface="Consolas"/>
                <a:ea typeface="Calibri"/>
                <a:cs typeface="Calibri"/>
              </a:rPr>
              <a:t>"</a:t>
            </a:r>
            <a:endParaRPr lang="pt-BR" sz="2000">
              <a:ea typeface="Calibri"/>
              <a:cs typeface="Calibri"/>
            </a:endParaRPr>
          </a:p>
          <a:p>
            <a:r>
              <a:rPr lang="pt-BR" sz="2000" err="1">
                <a:solidFill>
                  <a:srgbClr val="9CDCFE"/>
                </a:solidFill>
                <a:latin typeface="Consolas"/>
                <a:ea typeface="Calibri"/>
                <a:cs typeface="Calibri"/>
              </a:rPr>
              <a:t>contador_vogais</a:t>
            </a:r>
            <a:r>
              <a:rPr lang="pt-BR" sz="200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pt-BR" sz="2000">
                <a:solidFill>
                  <a:srgbClr val="D4D4D4"/>
                </a:solidFill>
                <a:latin typeface="Consolas"/>
                <a:ea typeface="Calibri"/>
                <a:cs typeface="Calibri"/>
              </a:rPr>
              <a:t>=</a:t>
            </a:r>
            <a:r>
              <a:rPr lang="pt-BR" sz="200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pt-BR" sz="2000">
                <a:solidFill>
                  <a:srgbClr val="B5CEA8"/>
                </a:solidFill>
                <a:latin typeface="Consolas"/>
                <a:ea typeface="Calibri"/>
                <a:cs typeface="Calibri"/>
              </a:rPr>
              <a:t>0</a:t>
            </a:r>
            <a:endParaRPr lang="pt-BR" sz="2000">
              <a:ea typeface="Calibri"/>
              <a:cs typeface="Calibri"/>
            </a:endParaRPr>
          </a:p>
          <a:p>
            <a:endParaRPr lang="en-US"/>
          </a:p>
          <a:p>
            <a:r>
              <a:rPr lang="pt-BR" sz="2000">
                <a:solidFill>
                  <a:srgbClr val="C586C0"/>
                </a:solidFill>
                <a:latin typeface="Consolas"/>
                <a:ea typeface="Calibri"/>
                <a:cs typeface="Calibri"/>
              </a:rPr>
              <a:t>for</a:t>
            </a:r>
            <a:r>
              <a:rPr lang="pt-BR" sz="200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pt-BR" sz="2000">
                <a:solidFill>
                  <a:srgbClr val="9CDCFE"/>
                </a:solidFill>
                <a:latin typeface="Consolas"/>
                <a:ea typeface="Calibri"/>
                <a:cs typeface="Calibri"/>
              </a:rPr>
              <a:t>letra</a:t>
            </a:r>
            <a:r>
              <a:rPr lang="pt-BR" sz="200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pt-BR" sz="2000">
                <a:solidFill>
                  <a:srgbClr val="C586C0"/>
                </a:solidFill>
                <a:latin typeface="Consolas"/>
                <a:ea typeface="Calibri"/>
                <a:cs typeface="Calibri"/>
              </a:rPr>
              <a:t>in</a:t>
            </a:r>
            <a:r>
              <a:rPr lang="pt-BR" sz="200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pt-BR" sz="2000">
                <a:solidFill>
                  <a:srgbClr val="9CDCFE"/>
                </a:solidFill>
                <a:latin typeface="Consolas"/>
                <a:ea typeface="Calibri"/>
                <a:cs typeface="Calibri"/>
              </a:rPr>
              <a:t>palavra</a:t>
            </a:r>
            <a:r>
              <a:rPr lang="pt-BR" sz="200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:</a:t>
            </a:r>
            <a:endParaRPr lang="pt-BR" sz="2000">
              <a:ea typeface="Calibri"/>
              <a:cs typeface="Calibri"/>
            </a:endParaRPr>
          </a:p>
          <a:p>
            <a:r>
              <a:rPr lang="pt-BR" sz="200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    </a:t>
            </a:r>
            <a:r>
              <a:rPr lang="pt-BR" sz="2000" err="1">
                <a:solidFill>
                  <a:srgbClr val="C586C0"/>
                </a:solidFill>
                <a:latin typeface="Consolas"/>
                <a:ea typeface="Calibri"/>
                <a:cs typeface="Calibri"/>
              </a:rPr>
              <a:t>if</a:t>
            </a:r>
            <a:r>
              <a:rPr lang="pt-BR" sz="200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pt-BR" sz="2000">
                <a:solidFill>
                  <a:srgbClr val="9CDCFE"/>
                </a:solidFill>
                <a:latin typeface="Consolas"/>
                <a:ea typeface="Calibri"/>
                <a:cs typeface="Calibri"/>
              </a:rPr>
              <a:t>letra</a:t>
            </a:r>
            <a:r>
              <a:rPr lang="pt-BR" sz="200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pt-BR" sz="2000">
                <a:solidFill>
                  <a:srgbClr val="569CD6"/>
                </a:solidFill>
                <a:latin typeface="Consolas"/>
                <a:ea typeface="Calibri"/>
                <a:cs typeface="Calibri"/>
              </a:rPr>
              <a:t>in</a:t>
            </a:r>
            <a:r>
              <a:rPr lang="pt-BR" sz="200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pt-BR" sz="2000">
                <a:solidFill>
                  <a:srgbClr val="9CDCFE"/>
                </a:solidFill>
                <a:latin typeface="Consolas"/>
                <a:ea typeface="Calibri"/>
                <a:cs typeface="Calibri"/>
              </a:rPr>
              <a:t>vogais</a:t>
            </a:r>
            <a:r>
              <a:rPr lang="pt-BR" sz="200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:</a:t>
            </a:r>
            <a:endParaRPr lang="pt-BR" sz="2000">
              <a:ea typeface="Calibri"/>
              <a:cs typeface="Calibri"/>
            </a:endParaRPr>
          </a:p>
          <a:p>
            <a:r>
              <a:rPr lang="pt-BR" sz="200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        </a:t>
            </a:r>
            <a:r>
              <a:rPr lang="pt-BR" sz="2000" err="1">
                <a:solidFill>
                  <a:srgbClr val="9CDCFE"/>
                </a:solidFill>
                <a:latin typeface="Consolas"/>
                <a:ea typeface="Calibri"/>
                <a:cs typeface="Calibri"/>
              </a:rPr>
              <a:t>contador_vogais</a:t>
            </a:r>
            <a:r>
              <a:rPr lang="pt-BR" sz="200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pt-BR" sz="2000">
                <a:solidFill>
                  <a:srgbClr val="D4D4D4"/>
                </a:solidFill>
                <a:latin typeface="Consolas"/>
                <a:ea typeface="Calibri"/>
                <a:cs typeface="Calibri"/>
              </a:rPr>
              <a:t>+=</a:t>
            </a:r>
            <a:r>
              <a:rPr lang="pt-BR" sz="200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pt-BR" sz="2000">
                <a:solidFill>
                  <a:srgbClr val="B5CEA8"/>
                </a:solidFill>
                <a:latin typeface="Consolas"/>
                <a:ea typeface="Calibri"/>
                <a:cs typeface="Calibri"/>
              </a:rPr>
              <a:t>1</a:t>
            </a:r>
            <a:endParaRPr lang="pt-BR" sz="2000">
              <a:ea typeface="Calibri"/>
              <a:cs typeface="Calibri"/>
            </a:endParaRPr>
          </a:p>
          <a:p>
            <a:endParaRPr lang="en-US"/>
          </a:p>
          <a:p>
            <a:r>
              <a:rPr lang="pt-BR" sz="2000">
                <a:solidFill>
                  <a:srgbClr val="DCDCAA"/>
                </a:solidFill>
                <a:latin typeface="Consolas"/>
                <a:ea typeface="Calibri"/>
                <a:cs typeface="Calibri"/>
              </a:rPr>
              <a:t>print</a:t>
            </a:r>
            <a:r>
              <a:rPr lang="pt-BR" sz="200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(</a:t>
            </a:r>
            <a:r>
              <a:rPr lang="pt-BR" sz="2000" err="1">
                <a:solidFill>
                  <a:srgbClr val="569CD6"/>
                </a:solidFill>
                <a:latin typeface="Consolas"/>
                <a:ea typeface="Calibri"/>
                <a:cs typeface="Calibri"/>
              </a:rPr>
              <a:t>f</a:t>
            </a:r>
            <a:r>
              <a:rPr lang="pt-BR" sz="2000" err="1">
                <a:solidFill>
                  <a:srgbClr val="CE9178"/>
                </a:solidFill>
                <a:latin typeface="Consolas"/>
                <a:ea typeface="Calibri"/>
                <a:cs typeface="Calibri"/>
              </a:rPr>
              <a:t>"A</a:t>
            </a:r>
            <a:r>
              <a:rPr lang="pt-BR" sz="2000">
                <a:solidFill>
                  <a:srgbClr val="CE9178"/>
                </a:solidFill>
                <a:latin typeface="Consolas"/>
                <a:ea typeface="Calibri"/>
                <a:cs typeface="Calibri"/>
              </a:rPr>
              <a:t> palavra '</a:t>
            </a:r>
            <a:r>
              <a:rPr lang="pt-BR" sz="2000">
                <a:solidFill>
                  <a:srgbClr val="569CD6"/>
                </a:solidFill>
                <a:latin typeface="Consolas"/>
                <a:ea typeface="Calibri"/>
                <a:cs typeface="Calibri"/>
              </a:rPr>
              <a:t>{</a:t>
            </a:r>
            <a:r>
              <a:rPr lang="pt-BR" sz="2000">
                <a:solidFill>
                  <a:srgbClr val="9CDCFE"/>
                </a:solidFill>
                <a:latin typeface="Consolas"/>
                <a:ea typeface="Calibri"/>
                <a:cs typeface="Calibri"/>
              </a:rPr>
              <a:t>palavra</a:t>
            </a:r>
            <a:r>
              <a:rPr lang="pt-BR" sz="2000">
                <a:solidFill>
                  <a:srgbClr val="569CD6"/>
                </a:solidFill>
                <a:latin typeface="Consolas"/>
                <a:ea typeface="Calibri"/>
                <a:cs typeface="Calibri"/>
              </a:rPr>
              <a:t>}</a:t>
            </a:r>
            <a:r>
              <a:rPr lang="pt-BR" sz="2000">
                <a:solidFill>
                  <a:srgbClr val="CE9178"/>
                </a:solidFill>
                <a:latin typeface="Consolas"/>
                <a:ea typeface="Calibri"/>
                <a:cs typeface="Calibri"/>
              </a:rPr>
              <a:t>' tem </a:t>
            </a:r>
            <a:r>
              <a:rPr lang="pt-BR" sz="2000">
                <a:solidFill>
                  <a:srgbClr val="569CD6"/>
                </a:solidFill>
                <a:latin typeface="Consolas"/>
                <a:ea typeface="Calibri"/>
                <a:cs typeface="Calibri"/>
              </a:rPr>
              <a:t>{</a:t>
            </a:r>
            <a:r>
              <a:rPr lang="pt-BR" sz="2000" err="1">
                <a:solidFill>
                  <a:srgbClr val="9CDCFE"/>
                </a:solidFill>
                <a:latin typeface="Consolas"/>
                <a:ea typeface="Calibri"/>
                <a:cs typeface="Calibri"/>
              </a:rPr>
              <a:t>contador_vogais</a:t>
            </a:r>
            <a:r>
              <a:rPr lang="pt-BR" sz="2000">
                <a:solidFill>
                  <a:srgbClr val="569CD6"/>
                </a:solidFill>
                <a:latin typeface="Consolas"/>
                <a:ea typeface="Calibri"/>
                <a:cs typeface="Calibri"/>
              </a:rPr>
              <a:t>}</a:t>
            </a:r>
            <a:r>
              <a:rPr lang="pt-BR" sz="2000">
                <a:solidFill>
                  <a:srgbClr val="CE9178"/>
                </a:solidFill>
                <a:latin typeface="Consolas"/>
                <a:ea typeface="Calibri"/>
                <a:cs typeface="Calibri"/>
              </a:rPr>
              <a:t> vogais."</a:t>
            </a:r>
            <a:r>
              <a:rPr lang="pt-BR" sz="2000">
                <a:solidFill>
                  <a:srgbClr val="CCCCCC"/>
                </a:solidFill>
                <a:latin typeface="Consolas"/>
                <a:ea typeface="Calibri"/>
                <a:cs typeface="Calibri"/>
              </a:rPr>
              <a:t>)</a:t>
            </a:r>
            <a:endParaRPr lang="pt-BR" sz="2000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pt-BR" sz="2400">
              <a:solidFill>
                <a:schemeClr val="bg1"/>
              </a:solidFill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pt-BR" sz="2400">
              <a:solidFill>
                <a:schemeClr val="bg1"/>
              </a:solidFill>
              <a:ea typeface="+mn-lt"/>
              <a:cs typeface="+mn-lt"/>
            </a:endParaRPr>
          </a:p>
          <a:p>
            <a:pPr marL="457200" indent="-457200">
              <a:buFont typeface="Arial"/>
              <a:buChar char="•"/>
            </a:pPr>
            <a:endParaRPr lang="pt-BR" sz="2400" b="1">
              <a:solidFill>
                <a:schemeClr val="bg1"/>
              </a:solidFill>
              <a:ea typeface="+mn-lt"/>
              <a:cs typeface="+mn-lt"/>
            </a:endParaRPr>
          </a:p>
          <a:p>
            <a:pPr marL="457200" indent="-457200">
              <a:buFont typeface="Arial"/>
              <a:buChar char="•"/>
            </a:pPr>
            <a:endParaRPr lang="pt-BR" sz="2400">
              <a:solidFill>
                <a:schemeClr val="bg1"/>
              </a:solidFill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endParaRPr lang="pt-BR">
              <a:solidFill>
                <a:schemeClr val="bg1"/>
              </a:solidFill>
              <a:ea typeface="+mn-lt"/>
              <a:cs typeface="+mn-lt"/>
            </a:endParaRPr>
          </a:p>
        </p:txBody>
      </p:sp>
      <p:pic>
        <p:nvPicPr>
          <p:cNvPr id="3" name="Imagem 1" descr="Ícone&#10;&#10;O conteúdo gerado por IA pode estar incorreto.">
            <a:extLst>
              <a:ext uri="{FF2B5EF4-FFF2-40B4-BE49-F238E27FC236}">
                <a16:creationId xmlns:a16="http://schemas.microsoft.com/office/drawing/2014/main" id="{8D148262-9739-99E0-A095-D6BAAB40AC5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328" y="190873"/>
            <a:ext cx="1459971" cy="39245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B0EF1DED-848E-15CD-8F14-1AEDE6D4F377}"/>
              </a:ext>
            </a:extLst>
          </p:cNvPr>
          <p:cNvSpPr txBox="1"/>
          <p:nvPr/>
        </p:nvSpPr>
        <p:spPr>
          <a:xfrm>
            <a:off x="1769947" y="782170"/>
            <a:ext cx="70408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>
                <a:solidFill>
                  <a:srgbClr val="FFFFFF"/>
                </a:solidFill>
                <a:ea typeface="+mn-lt"/>
                <a:cs typeface="+mn-lt"/>
              </a:rPr>
              <a:t>Estruturas de Repetição - O Laço For</a:t>
            </a:r>
            <a:endParaRPr lang="pt-BR" sz="2400" b="1" u="sng">
              <a:solidFill>
                <a:srgbClr val="FFFFFF"/>
              </a:solidFill>
              <a:latin typeface="Consolas"/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891473E-B19E-49A8-7CCA-096858ABBF56}"/>
              </a:ext>
            </a:extLst>
          </p:cNvPr>
          <p:cNvSpPr txBox="1"/>
          <p:nvPr/>
        </p:nvSpPr>
        <p:spPr>
          <a:xfrm>
            <a:off x="7250138" y="599666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rgbClr val="FFFFFF"/>
                </a:solidFill>
              </a:rPr>
              <a:t>Prof. Gabriel Saito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8104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3280A-5B2A-090F-4B06-1C63DD10B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B5E1B437-5B7A-BE52-735B-03EF61362B87}"/>
              </a:ext>
            </a:extLst>
          </p:cNvPr>
          <p:cNvSpPr txBox="1"/>
          <p:nvPr/>
        </p:nvSpPr>
        <p:spPr>
          <a:xfrm>
            <a:off x="2287213" y="-1035"/>
            <a:ext cx="527680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000" b="1" err="1">
                <a:solidFill>
                  <a:schemeClr val="bg1"/>
                </a:solidFill>
                <a:ea typeface="+mn-lt"/>
                <a:cs typeface="+mn-lt"/>
              </a:rPr>
              <a:t>Coding</a:t>
            </a:r>
            <a:r>
              <a:rPr lang="pt-BR" sz="4000" b="1">
                <a:solidFill>
                  <a:schemeClr val="bg1"/>
                </a:solidFill>
                <a:ea typeface="+mn-lt"/>
                <a:cs typeface="+mn-lt"/>
              </a:rPr>
              <a:t> for Security</a:t>
            </a:r>
            <a:br>
              <a:rPr lang="pt-BR" sz="3200" b="1">
                <a:solidFill>
                  <a:schemeClr val="bg1"/>
                </a:solidFill>
                <a:ea typeface="+mn-lt"/>
                <a:cs typeface="+mn-lt"/>
              </a:rPr>
            </a:br>
            <a:endParaRPr lang="pt-BR" sz="3200" b="1">
              <a:ea typeface="+mn-lt"/>
              <a:cs typeface="+mn-lt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47FA7E0-4E46-9DA3-8D6E-81A4B5E046AA}"/>
              </a:ext>
            </a:extLst>
          </p:cNvPr>
          <p:cNvSpPr txBox="1"/>
          <p:nvPr/>
        </p:nvSpPr>
        <p:spPr>
          <a:xfrm>
            <a:off x="222587" y="1419757"/>
            <a:ext cx="8716227" cy="59400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>
                <a:solidFill>
                  <a:srgbClr val="F0265D"/>
                </a:solidFill>
                <a:latin typeface="Consolas"/>
                <a:ea typeface="+mn-lt"/>
                <a:cs typeface="+mn-lt"/>
              </a:rPr>
              <a:t>for</a:t>
            </a:r>
            <a:r>
              <a:rPr lang="pt-BR" sz="3200">
                <a:solidFill>
                  <a:srgbClr val="F0265D"/>
                </a:solidFill>
                <a:ea typeface="+mn-lt"/>
                <a:cs typeface="+mn-lt"/>
              </a:rPr>
              <a:t> </a:t>
            </a:r>
            <a:r>
              <a:rPr lang="pt-BR" sz="3200">
                <a:solidFill>
                  <a:schemeClr val="bg1"/>
                </a:solidFill>
                <a:ea typeface="+mn-lt"/>
                <a:cs typeface="+mn-lt"/>
              </a:rPr>
              <a:t>vs.</a:t>
            </a:r>
            <a:r>
              <a:rPr lang="pt-BR" sz="3200">
                <a:solidFill>
                  <a:srgbClr val="F0265D"/>
                </a:solidFill>
                <a:ea typeface="+mn-lt"/>
                <a:cs typeface="+mn-lt"/>
              </a:rPr>
              <a:t> </a:t>
            </a:r>
            <a:r>
              <a:rPr lang="pt-BR" sz="3200" err="1">
                <a:solidFill>
                  <a:srgbClr val="F0265D"/>
                </a:solidFill>
                <a:latin typeface="Consolas"/>
                <a:ea typeface="+mn-lt"/>
                <a:cs typeface="+mn-lt"/>
              </a:rPr>
              <a:t>while</a:t>
            </a:r>
            <a:r>
              <a:rPr lang="pt-BR" sz="3200">
                <a:solidFill>
                  <a:srgbClr val="F0265D"/>
                </a:solidFill>
                <a:ea typeface="+mn-lt"/>
                <a:cs typeface="+mn-lt"/>
              </a:rPr>
              <a:t>: </a:t>
            </a:r>
            <a:r>
              <a:rPr lang="pt-BR" sz="3200">
                <a:solidFill>
                  <a:schemeClr val="bg1"/>
                </a:solidFill>
                <a:ea typeface="+mn-lt"/>
                <a:cs typeface="+mn-lt"/>
              </a:rPr>
              <a:t>Qual usar?</a:t>
            </a:r>
            <a:br>
              <a:rPr lang="pt-BR" sz="3200" b="1">
                <a:solidFill>
                  <a:schemeClr val="bg1"/>
                </a:solidFill>
                <a:ea typeface="+mn-lt"/>
                <a:cs typeface="+mn-lt"/>
              </a:rPr>
            </a:br>
            <a:endParaRPr lang="pt-BR" sz="3600" b="1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BR" sz="2000" b="1">
                <a:solidFill>
                  <a:srgbClr val="CCCCCC"/>
                </a:solidFill>
                <a:ea typeface="+mn-lt"/>
                <a:cs typeface="+mn-lt"/>
              </a:rPr>
              <a:t>Use </a:t>
            </a:r>
            <a:r>
              <a:rPr lang="pt-BR" sz="2000" b="1">
                <a:solidFill>
                  <a:srgbClr val="F0265D"/>
                </a:solidFill>
                <a:latin typeface="Consolas"/>
                <a:ea typeface="Calibri"/>
                <a:cs typeface="Calibri"/>
              </a:rPr>
              <a:t>for</a:t>
            </a:r>
            <a:r>
              <a:rPr lang="pt-BR" sz="2000" b="1">
                <a:solidFill>
                  <a:srgbClr val="CCCCCC"/>
                </a:solidFill>
                <a:ea typeface="+mn-lt"/>
                <a:cs typeface="+mn-lt"/>
              </a:rPr>
              <a:t> quando:</a:t>
            </a:r>
            <a:endParaRPr lang="pt-BR" b="1">
              <a:solidFill>
                <a:srgbClr val="CCCCCC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BR" sz="2000">
                <a:solidFill>
                  <a:srgbClr val="CCCCCC"/>
                </a:solidFill>
                <a:ea typeface="+mn-lt"/>
                <a:cs typeface="+mn-lt"/>
              </a:rPr>
              <a:t>Você sabe o número exato de iterações.</a:t>
            </a:r>
            <a:endParaRPr lang="pt-BR"/>
          </a:p>
          <a:p>
            <a:pPr marL="285750" indent="-285750">
              <a:buFont typeface="Arial"/>
              <a:buChar char="•"/>
            </a:pPr>
            <a:r>
              <a:rPr lang="pt-BR" sz="2000">
                <a:solidFill>
                  <a:srgbClr val="CCCCCC"/>
                </a:solidFill>
                <a:ea typeface="+mn-lt"/>
                <a:cs typeface="+mn-lt"/>
              </a:rPr>
              <a:t>Você quer percorrer os itens de uma coleção (</a:t>
            </a:r>
            <a:r>
              <a:rPr lang="pt-BR" sz="2000" err="1">
                <a:solidFill>
                  <a:srgbClr val="CCCCCC"/>
                </a:solidFill>
                <a:ea typeface="+mn-lt"/>
                <a:cs typeface="+mn-lt"/>
              </a:rPr>
              <a:t>string</a:t>
            </a:r>
            <a:r>
              <a:rPr lang="pt-BR" sz="2000">
                <a:solidFill>
                  <a:srgbClr val="CCCCCC"/>
                </a:solidFill>
                <a:ea typeface="+mn-lt"/>
                <a:cs typeface="+mn-lt"/>
              </a:rPr>
              <a:t>, lista, etc.).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pt-BR" sz="2000">
                <a:solidFill>
                  <a:srgbClr val="CCCCCC"/>
                </a:solidFill>
                <a:ea typeface="+mn-lt"/>
                <a:cs typeface="+mn-lt"/>
              </a:rPr>
              <a:t>É o "laço de contagem".</a:t>
            </a:r>
            <a:br>
              <a:rPr lang="pt-BR" sz="2000">
                <a:solidFill>
                  <a:srgbClr val="CCCCCC"/>
                </a:solidFill>
                <a:ea typeface="+mn-lt"/>
                <a:cs typeface="+mn-lt"/>
              </a:rPr>
            </a:br>
            <a:endParaRPr lang="pt-BR"/>
          </a:p>
          <a:p>
            <a:pPr marL="285750" indent="-285750">
              <a:buFont typeface="Arial"/>
              <a:buChar char="•"/>
            </a:pPr>
            <a:r>
              <a:rPr lang="pt-BR" sz="2000" b="1">
                <a:solidFill>
                  <a:srgbClr val="CCCCCC"/>
                </a:solidFill>
                <a:ea typeface="+mn-lt"/>
                <a:cs typeface="+mn-lt"/>
              </a:rPr>
              <a:t>Use </a:t>
            </a:r>
            <a:r>
              <a:rPr lang="pt-BR" sz="2000" b="1" err="1">
                <a:solidFill>
                  <a:srgbClr val="F0265D"/>
                </a:solidFill>
                <a:latin typeface="Consolas"/>
                <a:ea typeface="Calibri"/>
                <a:cs typeface="Calibri"/>
              </a:rPr>
              <a:t>while</a:t>
            </a:r>
            <a:r>
              <a:rPr lang="pt-BR" sz="2000" b="1">
                <a:solidFill>
                  <a:srgbClr val="CCCCCC"/>
                </a:solidFill>
                <a:ea typeface="+mn-lt"/>
                <a:cs typeface="+mn-lt"/>
              </a:rPr>
              <a:t> quando:</a:t>
            </a:r>
            <a:endParaRPr lang="pt-BR" b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BR" sz="2000">
                <a:solidFill>
                  <a:srgbClr val="CCCCCC"/>
                </a:solidFill>
                <a:ea typeface="+mn-lt"/>
                <a:cs typeface="+mn-lt"/>
              </a:rPr>
              <a:t>Você </a:t>
            </a:r>
            <a:r>
              <a:rPr lang="pt-BR" sz="2000" b="1">
                <a:solidFill>
                  <a:srgbClr val="CCCCCC"/>
                </a:solidFill>
                <a:ea typeface="+mn-lt"/>
                <a:cs typeface="+mn-lt"/>
              </a:rPr>
              <a:t>não</a:t>
            </a:r>
            <a:r>
              <a:rPr lang="pt-BR" sz="2000">
                <a:solidFill>
                  <a:srgbClr val="CCCCCC"/>
                </a:solidFill>
                <a:ea typeface="+mn-lt"/>
                <a:cs typeface="+mn-lt"/>
              </a:rPr>
              <a:t> sabe o número de iterações.</a:t>
            </a:r>
            <a:endParaRPr lang="pt-BR"/>
          </a:p>
          <a:p>
            <a:pPr marL="285750" indent="-285750">
              <a:buFont typeface="Arial"/>
              <a:buChar char="•"/>
            </a:pPr>
            <a:r>
              <a:rPr lang="pt-BR" sz="2000">
                <a:solidFill>
                  <a:srgbClr val="CCCCCC"/>
                </a:solidFill>
                <a:ea typeface="+mn-lt"/>
                <a:cs typeface="+mn-lt"/>
              </a:rPr>
              <a:t>A repetição depende de uma condição externa (</a:t>
            </a:r>
            <a:r>
              <a:rPr lang="pt-BR" sz="2000" err="1">
                <a:solidFill>
                  <a:srgbClr val="CCCCCC"/>
                </a:solidFill>
                <a:ea typeface="+mn-lt"/>
                <a:cs typeface="+mn-lt"/>
              </a:rPr>
              <a:t>ex</a:t>
            </a:r>
            <a:r>
              <a:rPr lang="pt-BR" sz="2000">
                <a:solidFill>
                  <a:srgbClr val="CCCCCC"/>
                </a:solidFill>
                <a:ea typeface="+mn-lt"/>
                <a:cs typeface="+mn-lt"/>
              </a:rPr>
              <a:t>: entrada do usuário, status de um sensor).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pt-BR" sz="2000">
                <a:solidFill>
                  <a:srgbClr val="CCCCCC"/>
                </a:solidFill>
                <a:ea typeface="+mn-lt"/>
                <a:cs typeface="+mn-lt"/>
              </a:rPr>
              <a:t>É o "laço condicional". </a:t>
            </a:r>
            <a:endParaRPr lang="pt-BR" sz="2000">
              <a:solidFill>
                <a:srgbClr val="CCCCCC"/>
              </a:solidFill>
              <a:latin typeface="Calibri"/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pt-BR" sz="2400">
              <a:solidFill>
                <a:schemeClr val="bg1"/>
              </a:solidFill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pt-BR" sz="2400">
              <a:solidFill>
                <a:schemeClr val="bg1"/>
              </a:solidFill>
              <a:ea typeface="+mn-lt"/>
              <a:cs typeface="+mn-lt"/>
            </a:endParaRPr>
          </a:p>
          <a:p>
            <a:pPr marL="457200" indent="-457200">
              <a:buFont typeface="Arial"/>
              <a:buChar char="•"/>
            </a:pPr>
            <a:endParaRPr lang="pt-BR" sz="2400" b="1">
              <a:solidFill>
                <a:schemeClr val="bg1"/>
              </a:solidFill>
              <a:ea typeface="+mn-lt"/>
              <a:cs typeface="+mn-lt"/>
            </a:endParaRPr>
          </a:p>
          <a:p>
            <a:pPr marL="457200" indent="-457200">
              <a:buFont typeface="Arial"/>
              <a:buChar char="•"/>
            </a:pPr>
            <a:endParaRPr lang="pt-BR" sz="2400">
              <a:solidFill>
                <a:schemeClr val="bg1"/>
              </a:solidFill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endParaRPr lang="pt-BR">
              <a:solidFill>
                <a:schemeClr val="bg1"/>
              </a:solidFill>
              <a:ea typeface="+mn-lt"/>
              <a:cs typeface="+mn-lt"/>
            </a:endParaRPr>
          </a:p>
        </p:txBody>
      </p:sp>
      <p:pic>
        <p:nvPicPr>
          <p:cNvPr id="3" name="Imagem 1" descr="Ícone&#10;&#10;O conteúdo gerado por IA pode estar incorreto.">
            <a:extLst>
              <a:ext uri="{FF2B5EF4-FFF2-40B4-BE49-F238E27FC236}">
                <a16:creationId xmlns:a16="http://schemas.microsoft.com/office/drawing/2014/main" id="{989EAAD6-3CAB-0FA4-C206-9E4E1BB6142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328" y="190873"/>
            <a:ext cx="1459971" cy="39245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775499D-423B-2B26-860E-BEB1AAE1612C}"/>
              </a:ext>
            </a:extLst>
          </p:cNvPr>
          <p:cNvSpPr txBox="1"/>
          <p:nvPr/>
        </p:nvSpPr>
        <p:spPr>
          <a:xfrm>
            <a:off x="1769947" y="782170"/>
            <a:ext cx="70408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>
                <a:solidFill>
                  <a:srgbClr val="FFFFFF"/>
                </a:solidFill>
                <a:ea typeface="+mn-lt"/>
                <a:cs typeface="+mn-lt"/>
              </a:rPr>
              <a:t>Estruturas de Repetição - O Laço For</a:t>
            </a:r>
            <a:endParaRPr lang="pt-BR" sz="2400" b="1" u="sng">
              <a:solidFill>
                <a:srgbClr val="FFFFFF"/>
              </a:solidFill>
              <a:latin typeface="Consolas"/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0EF3331-2CDA-0767-7451-CCC6435A4046}"/>
              </a:ext>
            </a:extLst>
          </p:cNvPr>
          <p:cNvSpPr txBox="1"/>
          <p:nvPr/>
        </p:nvSpPr>
        <p:spPr>
          <a:xfrm>
            <a:off x="7250138" y="599666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rgbClr val="FFFFFF"/>
                </a:solidFill>
              </a:rPr>
              <a:t>Prof. Gabriel Saito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238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134C1D83-14E1-446E-9F68-6B2CEFE6064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12" y="1"/>
            <a:ext cx="9140318" cy="6858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AC9727B6-CB6D-41D7-8309-AC12CCAEBB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5944" y="1066356"/>
            <a:ext cx="8732115" cy="4725291"/>
          </a:xfrm>
          <a:prstGeom prst="rect">
            <a:avLst/>
          </a:prstGeom>
        </p:spPr>
      </p:pic>
      <p:pic>
        <p:nvPicPr>
          <p:cNvPr id="16" name="Imagem 1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7656" y="3070371"/>
            <a:ext cx="2648691" cy="71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646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37D49A8764A5C48814EF56013A935E1" ma:contentTypeVersion="32" ma:contentTypeDescription="Crie um novo documento." ma:contentTypeScope="" ma:versionID="feff246cd277a27f35d123d84cd807b2">
  <xsd:schema xmlns:xsd="http://www.w3.org/2001/XMLSchema" xmlns:xs="http://www.w3.org/2001/XMLSchema" xmlns:p="http://schemas.microsoft.com/office/2006/metadata/properties" xmlns:ns2="3b47981c-61e2-4894-9b95-d78484a6277d" xmlns:ns3="b466e2c2-c6c4-42b9-a506-879fde1702df" targetNamespace="http://schemas.microsoft.com/office/2006/metadata/properties" ma:root="true" ma:fieldsID="63ef0cd93e8e9196e5ae6a026ea572a0" ns2:_="" ns3:_="">
    <xsd:import namespace="3b47981c-61e2-4894-9b95-d78484a6277d"/>
    <xsd:import namespace="b466e2c2-c6c4-42b9-a506-879fde1702df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47981c-61e2-4894-9b95-d78484a6277d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34" nillable="true" ma:taxonomy="true" ma:internalName="lcf76f155ced4ddcb4097134ff3c332f" ma:taxonomyFieldName="MediaServiceImageTags" ma:displayName="Marcações de imagem" ma:readOnly="false" ma:fieldId="{5cf76f15-5ced-4ddc-b409-7134ff3c332f}" ma:taxonomyMulti="true" ma:sspId="e2398b20-2c76-408b-9565-673d41e594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66e2c2-c6c4-42b9-a506-879fde1702df" elementFormDefault="qualified">
    <xsd:import namespace="http://schemas.microsoft.com/office/2006/documentManagement/types"/>
    <xsd:import namespace="http://schemas.microsoft.com/office/infopath/2007/PartnerControls"/>
    <xsd:element name="TaxCatchAll" ma:index="35" nillable="true" ma:displayName="Taxonomy Catch All Column" ma:hidden="true" ma:list="{d09d9946-15cf-424c-86ce-06f382dd2afa}" ma:internalName="TaxCatchAll" ma:showField="CatchAllData" ma:web="b466e2c2-c6c4-42b9-a506-879fde1702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udent_Groups xmlns="3b47981c-61e2-4894-9b95-d78484a6277d">
      <UserInfo>
        <DisplayName/>
        <AccountId xsi:nil="true"/>
        <AccountType/>
      </UserInfo>
    </Student_Groups>
    <Distribution_Groups xmlns="3b47981c-61e2-4894-9b95-d78484a6277d" xsi:nil="true"/>
    <Math_Settings xmlns="3b47981c-61e2-4894-9b95-d78484a6277d" xsi:nil="true"/>
    <Templates xmlns="3b47981c-61e2-4894-9b95-d78484a6277d" xsi:nil="true"/>
    <AppVersion xmlns="3b47981c-61e2-4894-9b95-d78484a6277d" xsi:nil="true"/>
    <TeamsChannelId xmlns="3b47981c-61e2-4894-9b95-d78484a6277d" xsi:nil="true"/>
    <Invited_Teachers xmlns="3b47981c-61e2-4894-9b95-d78484a6277d" xsi:nil="true"/>
    <IsNotebookLocked xmlns="3b47981c-61e2-4894-9b95-d78484a6277d" xsi:nil="true"/>
    <Students xmlns="3b47981c-61e2-4894-9b95-d78484a6277d">
      <UserInfo>
        <DisplayName/>
        <AccountId xsi:nil="true"/>
        <AccountType/>
      </UserInfo>
    </Students>
    <Has_Teacher_Only_SectionGroup xmlns="3b47981c-61e2-4894-9b95-d78484a6277d" xsi:nil="true"/>
    <FolderType xmlns="3b47981c-61e2-4894-9b95-d78484a6277d" xsi:nil="true"/>
    <Teachers xmlns="3b47981c-61e2-4894-9b95-d78484a6277d">
      <UserInfo>
        <DisplayName/>
        <AccountId xsi:nil="true"/>
        <AccountType/>
      </UserInfo>
    </Teachers>
    <lcf76f155ced4ddcb4097134ff3c332f xmlns="3b47981c-61e2-4894-9b95-d78484a6277d">
      <Terms xmlns="http://schemas.microsoft.com/office/infopath/2007/PartnerControls"/>
    </lcf76f155ced4ddcb4097134ff3c332f>
    <Self_Registration_Enabled xmlns="3b47981c-61e2-4894-9b95-d78484a6277d" xsi:nil="true"/>
    <LMS_Mappings xmlns="3b47981c-61e2-4894-9b95-d78484a6277d" xsi:nil="true"/>
    <NotebookType xmlns="3b47981c-61e2-4894-9b95-d78484a6277d" xsi:nil="true"/>
    <DefaultSectionNames xmlns="3b47981c-61e2-4894-9b95-d78484a6277d" xsi:nil="true"/>
    <Is_Collaboration_Space_Locked xmlns="3b47981c-61e2-4894-9b95-d78484a6277d" xsi:nil="true"/>
    <Teams_Channel_Section_Location xmlns="3b47981c-61e2-4894-9b95-d78484a6277d" xsi:nil="true"/>
    <CultureName xmlns="3b47981c-61e2-4894-9b95-d78484a6277d" xsi:nil="true"/>
    <Owner xmlns="3b47981c-61e2-4894-9b95-d78484a6277d">
      <UserInfo>
        <DisplayName/>
        <AccountId xsi:nil="true"/>
        <AccountType/>
      </UserInfo>
    </Owner>
    <TaxCatchAll xmlns="b466e2c2-c6c4-42b9-a506-879fde1702df" xsi:nil="true"/>
    <Invited_Students xmlns="3b47981c-61e2-4894-9b95-d78484a6277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FF45BEC-382C-47FD-AE80-2DB77EF96C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b47981c-61e2-4894-9b95-d78484a6277d"/>
    <ds:schemaRef ds:uri="b466e2c2-c6c4-42b9-a506-879fde1702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F752CE0-7599-4DD5-918E-B703E1E0039D}">
  <ds:schemaRefs>
    <ds:schemaRef ds:uri="http://schemas.microsoft.com/office/2006/metadata/properties"/>
    <ds:schemaRef ds:uri="http://www.w3.org/2000/xmlns/"/>
    <ds:schemaRef ds:uri="http://schemas.microsoft.com/office/infopath/2007/PartnerControls"/>
    <ds:schemaRef ds:uri="3b47981c-61e2-4894-9b95-d78484a6277d"/>
    <ds:schemaRef ds:uri="b466e2c2-c6c4-42b9-a506-879fde1702df"/>
  </ds:schemaRefs>
</ds:datastoreItem>
</file>

<file path=customXml/itemProps3.xml><?xml version="1.0" encoding="utf-8"?>
<ds:datastoreItem xmlns:ds="http://schemas.openxmlformats.org/officeDocument/2006/customXml" ds:itemID="{E4E7797C-743F-449D-8A61-DE6FFBCABF5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(4:3)</PresentationFormat>
  <Slides>14</Slides>
  <Notes>1</Notes>
  <HiddenSlides>0</HiddenSlides>
  <ScaleCrop>false</ScaleCrop>
  <HeadingPairs>
    <vt:vector size="4" baseType="variant">
      <vt:variant>
        <vt:lpstr>Tema</vt:lpstr>
      </vt:variant>
      <vt:variant>
        <vt:i4>4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Default Theme</vt:lpstr>
      <vt:lpstr>1_Personalizar design</vt:lpstr>
      <vt:lpstr>2_Personalizar design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andre.silva</dc:creator>
  <cp:revision>2</cp:revision>
  <dcterms:created xsi:type="dcterms:W3CDTF">2020-08-10T01:14:01Z</dcterms:created>
  <dcterms:modified xsi:type="dcterms:W3CDTF">2026-04-07T00:32:47Z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0x010100A37D49A8764A5C48814EF56013A935E1</vt:lpwstr>
  </property>
  <property fmtid="{D5CDD505-2E9C-101B-9397-08002B2CF9AE}" pid="3" name="MediaServiceImageTags">
    <vt:lpwstr/>
  </property>
</Properties>
</file>