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739" r:id="rId7"/>
  </p:sldMasterIdLst>
  <p:notesMasterIdLst>
    <p:notesMasterId r:id="rId20"/>
  </p:notesMasterIdLst>
  <p:sldIdLst>
    <p:sldId id="321" r:id="rId8"/>
    <p:sldId id="940" r:id="rId9"/>
    <p:sldId id="941" r:id="rId10"/>
    <p:sldId id="942" r:id="rId11"/>
    <p:sldId id="944" r:id="rId12"/>
    <p:sldId id="945" r:id="rId13"/>
    <p:sldId id="946" r:id="rId14"/>
    <p:sldId id="947" r:id="rId15"/>
    <p:sldId id="950" r:id="rId16"/>
    <p:sldId id="948" r:id="rId17"/>
    <p:sldId id="949" r:id="rId18"/>
    <p:sldId id="393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CE2CE4"/>
    <a:srgbClr val="EBAFB5"/>
    <a:srgbClr val="F34B77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DEA18-334A-9344-08FD-FC9686ECDA61}" v="56" dt="2026-03-30T19:06:23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Saito" userId="S::pf2357@fiap.com.br::8d4c1566-1553-4e16-8347-5644a0af1550" providerId="AD" clId="Web-{057DEA18-334A-9344-08FD-FC9686ECDA61}"/>
    <pc:docChg chg="modSld">
      <pc:chgData name="Gabriel Saito" userId="S::pf2357@fiap.com.br::8d4c1566-1553-4e16-8347-5644a0af1550" providerId="AD" clId="Web-{057DEA18-334A-9344-08FD-FC9686ECDA61}" dt="2026-03-30T19:06:23.034" v="32" actId="20577"/>
      <pc:docMkLst>
        <pc:docMk/>
      </pc:docMkLst>
      <pc:sldChg chg="modSp">
        <pc:chgData name="Gabriel Saito" userId="S::pf2357@fiap.com.br::8d4c1566-1553-4e16-8347-5644a0af1550" providerId="AD" clId="Web-{057DEA18-334A-9344-08FD-FC9686ECDA61}" dt="2026-03-30T19:00:01.265" v="14" actId="20577"/>
        <pc:sldMkLst>
          <pc:docMk/>
          <pc:sldMk cId="3340384152" sldId="947"/>
        </pc:sldMkLst>
        <pc:spChg chg="mod">
          <ac:chgData name="Gabriel Saito" userId="S::pf2357@fiap.com.br::8d4c1566-1553-4e16-8347-5644a0af1550" providerId="AD" clId="Web-{057DEA18-334A-9344-08FD-FC9686ECDA61}" dt="2026-03-30T19:00:01.265" v="14" actId="20577"/>
          <ac:spMkLst>
            <pc:docMk/>
            <pc:sldMk cId="3340384152" sldId="947"/>
            <ac:spMk id="6" creationId="{0C9C2EE6-0F61-763A-5948-BF5C7A7D37EB}"/>
          </ac:spMkLst>
        </pc:spChg>
      </pc:sldChg>
      <pc:sldChg chg="modSp">
        <pc:chgData name="Gabriel Saito" userId="S::pf2357@fiap.com.br::8d4c1566-1553-4e16-8347-5644a0af1550" providerId="AD" clId="Web-{057DEA18-334A-9344-08FD-FC9686ECDA61}" dt="2026-03-30T19:06:23.034" v="32" actId="20577"/>
        <pc:sldMkLst>
          <pc:docMk/>
          <pc:sldMk cId="1463401332" sldId="950"/>
        </pc:sldMkLst>
        <pc:spChg chg="mod">
          <ac:chgData name="Gabriel Saito" userId="S::pf2357@fiap.com.br::8d4c1566-1553-4e16-8347-5644a0af1550" providerId="AD" clId="Web-{057DEA18-334A-9344-08FD-FC9686ECDA61}" dt="2026-03-30T19:06:23.034" v="32" actId="20577"/>
          <ac:spMkLst>
            <pc:docMk/>
            <pc:sldMk cId="1463401332" sldId="950"/>
            <ac:spMk id="6" creationId="{ECFB3B45-0C81-55E5-B55C-7D1B52EC6F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2328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24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E72A25-0351-4EA7-A0C1-56A102DB83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8" name="Picture 2" descr="Resultado de imagem para lets rock the future fiap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12" y="490188"/>
            <a:ext cx="5261776" cy="536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1"/>
          <p:cNvSpPr>
            <a:spLocks noChangeArrowheads="1"/>
          </p:cNvSpPr>
          <p:nvPr/>
        </p:nvSpPr>
        <p:spPr bwMode="auto">
          <a:xfrm>
            <a:off x="4451350" y="3244850"/>
            <a:ext cx="241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800" b="0" i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pt-BR" altLang="pt-BR" sz="1800">
              <a:solidFill>
                <a:schemeClr val="bg2"/>
              </a:solidFill>
              <a:latin typeface="Square721 BT" pitchFamily="34" charset="0"/>
            </a:endParaRP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AB8F54D6-D80E-43FE-9301-431E0CC909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16" y="291457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C6B2C5-3AD5-0813-F913-18F63AEE82D6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A8B3CF-7038-F871-23B6-7C8CE6938361}"/>
              </a:ext>
            </a:extLst>
          </p:cNvPr>
          <p:cNvSpPr txBox="1"/>
          <p:nvPr/>
        </p:nvSpPr>
        <p:spPr>
          <a:xfrm>
            <a:off x="232792" y="1858588"/>
            <a:ext cx="8716227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0265D"/>
                </a:solidFill>
                <a:ea typeface="+mn-lt"/>
                <a:cs typeface="+mn-lt"/>
              </a:rPr>
              <a:t> Objetivos de Aprendizagem:</a:t>
            </a:r>
            <a:br>
              <a:rPr lang="pt-BR" b="1" dirty="0">
                <a:ea typeface="+mn-lt"/>
                <a:cs typeface="+mn-lt"/>
              </a:rPr>
            </a:br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Entender a necessidade de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laços de repetição.</a:t>
            </a: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Implementar um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 loop </a:t>
            </a:r>
            <a:r>
              <a:rPr lang="pt-BR" sz="240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para executar código condicionalmente.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Utilizar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contadores e acumuladores.</a:t>
            </a:r>
            <a:endParaRPr lang="pt-BR" sz="2400" dirty="0">
              <a:solidFill>
                <a:srgbClr val="F0265D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Identificar e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evitar loops infinitos.</a:t>
            </a:r>
            <a:endParaRPr lang="pt-BR" dirty="0">
              <a:solidFill>
                <a:srgbClr val="F0265D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F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br>
              <a:rPr lang="pt-BR" sz="2400" dirty="0"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53FF6E2F-8401-4F27-AAA0-3D8958574E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EBDA65B-0E05-8571-209D-BE93D224915B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A8C1F6-8979-33D6-80CA-DE4A0C5073A1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52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94A8-7AA2-4200-04A8-88EF1CEA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C2359AD-610D-B337-2814-ABB504FE4BFF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B0366A-FFA5-7F98-507E-C25136D238BF}"/>
              </a:ext>
            </a:extLst>
          </p:cNvPr>
          <p:cNvSpPr txBox="1"/>
          <p:nvPr/>
        </p:nvSpPr>
        <p:spPr>
          <a:xfrm>
            <a:off x="273613" y="1440168"/>
            <a:ext cx="871622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0265D"/>
                </a:solidFill>
                <a:ea typeface="+mn-lt"/>
                <a:cs typeface="+mn-lt"/>
              </a:rPr>
              <a:t>O Problema: Repetição de Código</a:t>
            </a:r>
            <a:br>
              <a:rPr lang="pt-BR" b="1" dirty="0">
                <a:ea typeface="+mn-lt"/>
                <a:cs typeface="+mn-lt"/>
              </a:rPr>
            </a:br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Imagine que você precisa imprimir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"Olá, mundo!"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5 vezes.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Sem laços, seu código seria assim:</a:t>
            </a: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F0000"/>
              </a:solidFill>
              <a:ea typeface="+mn-lt"/>
              <a:cs typeface="+mn-lt"/>
            </a:endParaRPr>
          </a:p>
          <a:p>
            <a:br>
              <a:rPr lang="pt-BR" sz="2400" dirty="0"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E se fossem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100 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vezes? Ou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1000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? Seria inviável e ineficiente.</a:t>
            </a: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131FAAB-AE8E-6862-019D-40358F38E8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5E7AFF-190E-D160-376F-EA810219B17C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6872BD-3454-5EF6-A609-02044E72FFD1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A27148E7-BA23-A1EB-AF93-8388C5FC6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46" y="3317422"/>
            <a:ext cx="33147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8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0AC1-AEF4-0B50-096E-60FE916E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24FBD9C-AB96-9A40-FC9F-757D54C92458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D40401-58B8-053B-A3F6-FC0CE1C86521}"/>
              </a:ext>
            </a:extLst>
          </p:cNvPr>
          <p:cNvSpPr txBox="1"/>
          <p:nvPr/>
        </p:nvSpPr>
        <p:spPr>
          <a:xfrm>
            <a:off x="222587" y="1613659"/>
            <a:ext cx="8716227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0265D"/>
                </a:solidFill>
                <a:ea typeface="+mn-lt"/>
                <a:cs typeface="+mn-lt"/>
              </a:rPr>
              <a:t>A Solução: Laços de Repetição</a:t>
            </a:r>
            <a:endParaRPr lang="pt-BR" b="1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 dirty="0">
                <a:solidFill>
                  <a:srgbClr val="F0265D"/>
                </a:solidFill>
                <a:ea typeface="+mn-lt"/>
                <a:cs typeface="+mn-lt"/>
              </a:rPr>
              <a:t>Laços (ou loops)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são estruturas que permitem executar o mesmo bloco de código várias vezes.</a:t>
            </a:r>
            <a:endParaRPr lang="pt-B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O primeiro laço que vamos aprender é o </a:t>
            </a:r>
            <a:r>
              <a:rPr lang="pt-BR" sz="200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000" dirty="0">
                <a:solidFill>
                  <a:srgbClr val="F0265D"/>
                </a:solidFill>
                <a:ea typeface="+mn-lt"/>
                <a:cs typeface="+mn-lt"/>
              </a:rPr>
              <a:t> (enquanto).</a:t>
            </a:r>
            <a:endParaRPr lang="pt-BR" sz="2000" dirty="0">
              <a:solidFill>
                <a:srgbClr val="F0265D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Ele repete um bloco de código </a:t>
            </a:r>
            <a:r>
              <a:rPr lang="pt-BR" sz="2000" b="1" dirty="0">
                <a:solidFill>
                  <a:srgbClr val="F0265D"/>
                </a:solidFill>
                <a:ea typeface="+mn-lt"/>
                <a:cs typeface="+mn-lt"/>
              </a:rPr>
              <a:t>enquanto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uma determinada condição for </a:t>
            </a:r>
            <a:r>
              <a:rPr lang="pt-BR" sz="2000" dirty="0">
                <a:solidFill>
                  <a:srgbClr val="F0265D"/>
                </a:solidFill>
                <a:ea typeface="+mn-lt"/>
                <a:cs typeface="+mn-lt"/>
              </a:rPr>
              <a:t>verdadeira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D0D74568-023E-FF2E-4922-ECE4AE6515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48CEF33-6C6F-84EB-6A32-90F9FB025F75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0D4249-97AF-E1FC-EA11-8EF61B3C397E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70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0C9D-3A6E-A7B4-46B3-6B5AAD74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0F57C33-01F5-DD55-9CB0-D1EA5072BB4F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9DC04E-F51E-CF48-EEE1-8BCD8FBF3498}"/>
              </a:ext>
            </a:extLst>
          </p:cNvPr>
          <p:cNvSpPr txBox="1"/>
          <p:nvPr/>
        </p:nvSpPr>
        <p:spPr>
          <a:xfrm>
            <a:off x="222587" y="1613659"/>
            <a:ext cx="8716227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0265D"/>
                </a:solidFill>
                <a:ea typeface="+mn-lt"/>
                <a:cs typeface="+mn-lt"/>
              </a:rPr>
              <a:t>Sintaxe do </a:t>
            </a:r>
            <a:r>
              <a:rPr lang="pt-BR" sz="2800" b="1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A </a:t>
            </a:r>
            <a:r>
              <a:rPr lang="pt-BR" sz="2400" u="sng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condicao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é uma expressão que resulta em </a:t>
            </a:r>
            <a:r>
              <a:rPr lang="pt-BR" sz="240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ou </a:t>
            </a:r>
            <a:r>
              <a:rPr lang="pt-BR" sz="2400" dirty="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False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O código indentado é o "corpo" do laço.</a:t>
            </a:r>
            <a:endParaRPr lang="pt-BR" sz="2400" dirty="0">
              <a:solidFill>
                <a:schemeClr val="bg1"/>
              </a:solidFill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23B3A15-72EF-22DC-3F3D-CF5E88E15F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6AF2C3-F628-82E4-CA30-50812668D3D8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F62025-40B8-2B74-E20F-624734DF10C0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CF5DFEE4-2842-8A79-5DEE-94494848B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49" y="2415268"/>
            <a:ext cx="55340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2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1AD0-1B59-14C5-E63B-894C4DD0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F3AEC1-B141-E1E8-FC86-156A0416BE93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2790D4-9EC2-F86E-CB83-3B65ECDD8797}"/>
              </a:ext>
            </a:extLst>
          </p:cNvPr>
          <p:cNvSpPr txBox="1"/>
          <p:nvPr/>
        </p:nvSpPr>
        <p:spPr>
          <a:xfrm>
            <a:off x="222587" y="1613659"/>
            <a:ext cx="8716227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0265D"/>
                </a:solidFill>
                <a:ea typeface="+mn-lt"/>
                <a:cs typeface="+mn-lt"/>
              </a:rPr>
              <a:t>Controlando o Loop: Contadores</a:t>
            </a:r>
            <a:endParaRPr lang="pt-BR" sz="3200" b="1" dirty="0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Um contador é uma variável, geralmente numérica, que controla quantas vezes o loop já foi executado.</a:t>
            </a:r>
            <a:br>
              <a:rPr lang="pt-BR" sz="2000" dirty="0">
                <a:ea typeface="+mn-lt"/>
                <a:cs typeface="+mn-lt"/>
              </a:rPr>
            </a:br>
            <a:endParaRPr lang="pt-BR" sz="1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É inicializado </a:t>
            </a:r>
            <a:r>
              <a:rPr lang="pt-BR" sz="2000" b="1" dirty="0">
                <a:solidFill>
                  <a:schemeClr val="bg1"/>
                </a:solidFill>
                <a:ea typeface="+mn-lt"/>
                <a:cs typeface="+mn-lt"/>
              </a:rPr>
              <a:t>antes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do loop.</a:t>
            </a:r>
            <a:br>
              <a:rPr lang="pt-BR" sz="2000" dirty="0">
                <a:ea typeface="+mn-lt"/>
                <a:cs typeface="+mn-lt"/>
              </a:rPr>
            </a:br>
            <a:endParaRPr lang="pt-BR" sz="1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É incrementado </a:t>
            </a:r>
            <a:r>
              <a:rPr lang="pt-BR" sz="2000" b="1" dirty="0">
                <a:solidFill>
                  <a:schemeClr val="bg1"/>
                </a:solidFill>
                <a:ea typeface="+mn-lt"/>
                <a:cs typeface="+mn-lt"/>
              </a:rPr>
              <a:t>dentro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do loop.</a:t>
            </a:r>
            <a:endParaRPr lang="pt-BR" sz="2000" dirty="0">
              <a:solidFill>
                <a:schemeClr val="bg1"/>
              </a:solidFill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222A945-F01D-B4E9-BDEA-397EE1FF07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3551BD6-1717-50DF-33BB-194CD3FA8C4E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902034-197C-D7AF-A2DB-5F97E7F1D706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9677BD4D-E5DD-9AC9-DDEF-50507F9D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732" y="4334555"/>
            <a:ext cx="55245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5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DFB0-2366-CE17-524E-331918AB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1890D5B-BC68-3B2A-4221-84761FA09C55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1537FC-330D-792B-E45C-75DB23106809}"/>
              </a:ext>
            </a:extLst>
          </p:cNvPr>
          <p:cNvSpPr txBox="1"/>
          <p:nvPr/>
        </p:nvSpPr>
        <p:spPr>
          <a:xfrm>
            <a:off x="222587" y="1613659"/>
            <a:ext cx="8481504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F0265D"/>
                </a:solidFill>
                <a:ea typeface="+mn-lt"/>
                <a:cs typeface="+mn-lt"/>
              </a:rPr>
              <a:t>Acumulando Valores: Acumuladores</a:t>
            </a:r>
            <a:endParaRPr lang="pt-BR" dirty="0"/>
          </a:p>
          <a:p>
            <a:endParaRPr lang="pt-BR" sz="2800" b="1" dirty="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Um acumulador é uma variável que "coleciona" ou "soma" valores a cada iteração do loop.</a:t>
            </a:r>
            <a:b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É inicializado </a:t>
            </a:r>
            <a:r>
              <a:rPr lang="pt-BR" sz="2000" b="1" dirty="0">
                <a:solidFill>
                  <a:srgbClr val="F0265D"/>
                </a:solidFill>
                <a:ea typeface="+mn-lt"/>
                <a:cs typeface="+mn-lt"/>
              </a:rPr>
              <a:t>antes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do loop (geralmente com 0).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É atualizado </a:t>
            </a:r>
            <a:r>
              <a:rPr lang="pt-BR" sz="2000" b="1" dirty="0">
                <a:solidFill>
                  <a:srgbClr val="F0265D"/>
                </a:solidFill>
                <a:ea typeface="+mn-lt"/>
                <a:cs typeface="+mn-lt"/>
              </a:rPr>
              <a:t>dentro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do loop com um novo valor.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000" dirty="0">
              <a:ea typeface="+mn-lt"/>
              <a:cs typeface="+mn-lt"/>
            </a:endParaRPr>
          </a:p>
          <a:p>
            <a:r>
              <a:rPr lang="pt-BR" dirty="0">
                <a:solidFill>
                  <a:srgbClr val="6A9955"/>
                </a:solidFill>
                <a:latin typeface="Consolas"/>
                <a:ea typeface="Calibri"/>
                <a:cs typeface="Calibri"/>
              </a:rPr>
              <a:t>### Exemplo:</a:t>
            </a:r>
            <a:br>
              <a:rPr lang="pt-BR" dirty="0">
                <a:solidFill>
                  <a:srgbClr val="6A9955"/>
                </a:solidFill>
                <a:latin typeface="Consolas"/>
                <a:ea typeface="Calibri"/>
                <a:cs typeface="Calibri"/>
              </a:rPr>
            </a:b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soma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/>
                <a:ea typeface="Calibri"/>
                <a:cs typeface="Calibri"/>
              </a:rPr>
              <a:t>0</a:t>
            </a:r>
            <a:endParaRPr lang="pt-BR" dirty="0">
              <a:ea typeface="Calibri"/>
              <a:cs typeface="Calibri"/>
            </a:endParaRPr>
          </a:p>
          <a:p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/>
                <a:ea typeface="Calibri"/>
                <a:cs typeface="Calibri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input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"Digite um número (0 para sair): "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))</a:t>
            </a:r>
            <a:endParaRPr lang="pt-BR" dirty="0">
              <a:ea typeface="Calibri"/>
              <a:cs typeface="Calibri"/>
            </a:endParaRPr>
          </a:p>
          <a:p>
            <a:r>
              <a:rPr lang="pt-BR" dirty="0" err="1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while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!=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/>
                <a:ea typeface="Calibri"/>
                <a:cs typeface="Calibri"/>
              </a:rPr>
              <a:t>0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:</a:t>
            </a:r>
            <a:endParaRPr lang="pt-BR" dirty="0">
              <a:ea typeface="Calibri"/>
              <a:cs typeface="Calibri"/>
            </a:endParaRPr>
          </a:p>
          <a:p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soma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+=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endParaRPr lang="pt-BR" dirty="0">
              <a:ea typeface="Calibri"/>
              <a:cs typeface="Calibri"/>
            </a:endParaRPr>
          </a:p>
          <a:p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dirty="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/>
                <a:ea typeface="Calibri"/>
                <a:cs typeface="Calibri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input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"Digite outro número (0 para sair): "</a:t>
            </a:r>
            <a:r>
              <a:rPr lang="pt-BR" dirty="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))</a:t>
            </a:r>
            <a:endParaRPr lang="pt-BR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435EB8C-7456-178C-36AA-C3504366A8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E7484C-0FFC-78C6-C1D9-CDCFAF7AE1AA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CC8FB4-835F-90B9-0365-8D4A20E1D74A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29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86C5-1658-4D9C-C954-2AD7BBCA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972B03-D04A-8235-5D61-A0209BC44729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9C2EE6-0F61-763A-5948-BF5C7A7D37EB}"/>
              </a:ext>
            </a:extLst>
          </p:cNvPr>
          <p:cNvSpPr txBox="1"/>
          <p:nvPr/>
        </p:nvSpPr>
        <p:spPr>
          <a:xfrm>
            <a:off x="222587" y="1613659"/>
            <a:ext cx="8481504" cy="6832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0265D"/>
                </a:solidFill>
                <a:ea typeface="+mn-lt"/>
                <a:cs typeface="+mn-lt"/>
              </a:rPr>
              <a:t>Vamos </a:t>
            </a:r>
            <a:r>
              <a:rPr lang="pt-BR" sz="3200" b="1">
                <a:solidFill>
                  <a:srgbClr val="F0265D"/>
                </a:solidFill>
              </a:rPr>
              <a:t>Praticar: </a:t>
            </a:r>
            <a:r>
              <a:rPr lang="pt-BR" sz="3200">
                <a:solidFill>
                  <a:srgbClr val="F0265D"/>
                </a:solidFill>
                <a:ea typeface="+mn-lt"/>
                <a:cs typeface="+mn-lt"/>
              </a:rPr>
              <a:t>Custo Total do Projeto</a:t>
            </a:r>
            <a:endParaRPr lang="pt-BR" b="1" dirty="0"/>
          </a:p>
          <a:p>
            <a:endParaRPr lang="pt-BR" sz="2800" b="1" dirty="0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Crie uma variável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custo_total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inicializada com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0.0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Peça o valor da primeira despesa ao usuário antes de iniciar o loop.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Construa o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com a condição de parada (valor da despesa ser diferente de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0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Dentro do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 loop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, adicione o valor da despesa ao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custo_total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Peça o valor da próxima despesa ao usuário ao final do bloco do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loop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Após o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loop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, imprima o valor final do custo do projeto formatado.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000" dirty="0">
              <a:solidFill>
                <a:srgbClr val="F0265D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B091369-5411-8902-53ED-DBCC0AD1C8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983CC33-3E83-6198-F038-B54826F71D8E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E819-F021-3E94-16DC-849A0EB21B82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38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3C65-75D1-1955-34F3-59A6446B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D3DAC16-4762-6C76-BFC6-9B5DBE95C565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FB3B45-0C81-55E5-B55C-7D1B52EC6F56}"/>
              </a:ext>
            </a:extLst>
          </p:cNvPr>
          <p:cNvSpPr txBox="1"/>
          <p:nvPr/>
        </p:nvSpPr>
        <p:spPr>
          <a:xfrm>
            <a:off x="335857" y="1242956"/>
            <a:ext cx="8481504" cy="80021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Vamos Praticar CONTADORES</a:t>
            </a:r>
            <a:br>
              <a:rPr lang="pt-BR" sz="3200" b="1" dirty="0">
                <a:solidFill>
                  <a:srgbClr val="F0265D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Crie uma variável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porta_atual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(contador) inicializada com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1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e uma variável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soma_portas_pares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inicializada com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0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Construa o 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loop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com a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 condição de parada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da porta ser menor ou igual a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50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Dentro do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loop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imprima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todas as portas que estão sendo verificadas (todos os números).</a:t>
            </a:r>
            <a:endParaRPr lang="pt-BR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Ainda dentro do loop, crie uma condição que adicione o número da porta à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Calibri"/>
                <a:cs typeface="Calibri"/>
              </a:rPr>
              <a:t>soma_portas_pares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apenas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se a porta for um número par.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Não esqueça de incrementar a </a:t>
            </a:r>
            <a:r>
              <a:rPr lang="pt-BR" sz="2400" dirty="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porta_atual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em 1 a cada iteração para que o loop avance.</a:t>
            </a: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Após o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loop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, imprima o valor final acumulado na soma.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000" dirty="0">
              <a:solidFill>
                <a:srgbClr val="F0265D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F3D92AD7-6690-5745-2BCD-628EFE0DB0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EDD1389-5D13-6261-2F39-5EB0F0027110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361A11-ABD0-AF46-34D3-B4FAB6745228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40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C3D7-045D-466A-2639-FCE3EA53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07CFF03-9E92-0A07-65AE-A8AF501D85B6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733DFE4-6BC6-6129-8325-9320EED9DCAD}"/>
              </a:ext>
            </a:extLst>
          </p:cNvPr>
          <p:cNvSpPr txBox="1"/>
          <p:nvPr/>
        </p:nvSpPr>
        <p:spPr>
          <a:xfrm>
            <a:off x="222587" y="1613659"/>
            <a:ext cx="8481504" cy="7078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0265D"/>
                </a:solidFill>
                <a:ea typeface="+mn-lt"/>
                <a:cs typeface="+mn-lt"/>
              </a:rPr>
              <a:t>O Perigo: Loops Infinitos</a:t>
            </a:r>
            <a:endParaRPr lang="pt-BR" sz="3600" dirty="0"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Um loop infinito ocorre quando a condição de parada </a:t>
            </a:r>
            <a:r>
              <a:rPr lang="pt-BR" sz="2400" b="1" dirty="0">
                <a:solidFill>
                  <a:srgbClr val="F0265D"/>
                </a:solidFill>
                <a:ea typeface="+mn-lt"/>
                <a:cs typeface="+mn-lt"/>
              </a:rPr>
              <a:t>nunca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é alcançada.</a:t>
            </a: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O programa fica "</a:t>
            </a:r>
            <a:r>
              <a:rPr lang="pt-BR" sz="2400" dirty="0">
                <a:solidFill>
                  <a:srgbClr val="F0265D"/>
                </a:solidFill>
                <a:ea typeface="+mn-lt"/>
                <a:cs typeface="+mn-lt"/>
              </a:rPr>
              <a:t>preso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", executando o mesmo código para sempre.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Exemplo de erro comum: esquecer de incrementar o contador.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sz="2000">
                <a:solidFill>
                  <a:srgbClr val="6A9955"/>
                </a:solidFill>
                <a:latin typeface="Consolas"/>
                <a:ea typeface="+mn-lt"/>
                <a:cs typeface="+mn-lt"/>
              </a:rPr>
              <a:t># CUIDADO: CÓDIGO COM LOOP INFINITO</a:t>
            </a:r>
            <a:endParaRPr lang="pt-BR" sz="2000">
              <a:solidFill>
                <a:srgbClr val="F0265D"/>
              </a:solidFill>
              <a:ea typeface="+mn-lt"/>
              <a:cs typeface="+mn-lt"/>
            </a:endParaRPr>
          </a:p>
          <a:p>
            <a:r>
              <a:rPr lang="pt-BR" sz="20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contador</a:t>
            </a:r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B5CEA8"/>
                </a:solidFill>
                <a:latin typeface="Consolas"/>
                <a:ea typeface="+mn-lt"/>
                <a:cs typeface="+mn-lt"/>
              </a:rPr>
              <a:t>1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 err="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contador</a:t>
            </a:r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&lt;=</a:t>
            </a:r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B5CEA8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pt-BR" sz="2000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print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pt-BR" sz="20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"Isso vai repetir para sempre!"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 dirty="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pt-BR" sz="2000">
                <a:solidFill>
                  <a:srgbClr val="6A9955"/>
                </a:solidFill>
                <a:latin typeface="Consolas"/>
                <a:ea typeface="+mn-lt"/>
                <a:cs typeface="+mn-lt"/>
              </a:rPr>
              <a:t># Esquecemos de fazer contador += 1</a:t>
            </a:r>
            <a:endParaRPr lang="pt-BR" sz="20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000" dirty="0">
              <a:solidFill>
                <a:srgbClr val="F0265D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077A903D-F0CF-A000-D337-103360C9C5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C7CFBCF-C1AD-0B68-CDC0-FBF641655ADD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69418C2-FE66-BF25-1DAF-DA1595A6CCFE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70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7054-8B5B-28B7-BCDA-267A87CB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8E1E893-22E7-FD1F-BFD4-85F9E8D43378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DAE089-4002-7EA8-7340-8F0CA40A1971}"/>
              </a:ext>
            </a:extLst>
          </p:cNvPr>
          <p:cNvSpPr txBox="1"/>
          <p:nvPr/>
        </p:nvSpPr>
        <p:spPr>
          <a:xfrm>
            <a:off x="222587" y="1613659"/>
            <a:ext cx="8481504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0265D"/>
                </a:solidFill>
                <a:ea typeface="+mn-lt"/>
                <a:cs typeface="+mn-lt"/>
              </a:rPr>
              <a:t>Resumo da Aula</a:t>
            </a:r>
            <a:endParaRPr lang="pt-BR" sz="3600" b="1" dirty="0"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Usamos laços para evitar a repetição de código.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O laço </a:t>
            </a:r>
            <a:r>
              <a:rPr lang="pt-BR" sz="24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repete um bloco enquanto uma condição for </a:t>
            </a:r>
            <a:r>
              <a:rPr lang="pt-BR" sz="24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Contadores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controlam o número de execuções.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Acumuladores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guardam a soma ou o resultado de várias iterações.</a:t>
            </a:r>
            <a:b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/>
          </a:p>
          <a:p>
            <a:pPr>
              <a:buFont typeface="Arial"/>
              <a:buChar char="•"/>
            </a:pP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É </a:t>
            </a: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CRUCIAL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garantir que a condição do </a:t>
            </a:r>
            <a:r>
              <a:rPr lang="pt-BR" sz="24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possa se tornar </a:t>
            </a:r>
            <a:r>
              <a:rPr lang="pt-BR" sz="24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False</a:t>
            </a:r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 para evitar loops infinitos.</a:t>
            </a:r>
            <a:endParaRPr lang="pt-BR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2000" dirty="0">
              <a:solidFill>
                <a:srgbClr val="F0265D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Calibri"/>
              <a:cs typeface="Calibri"/>
            </a:endParaRPr>
          </a:p>
          <a:p>
            <a:endParaRPr lang="pt-BR" sz="2800" b="1" dirty="0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 dirty="0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 dirty="0">
              <a:solidFill>
                <a:srgbClr val="F0265D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711126E2-6484-096E-7B78-955AF534D0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C0894EA-7127-24D8-32AB-8B31051498D4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 u="sng" err="1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while</a:t>
            </a:r>
            <a:endParaRPr lang="pt-BR" b="1" u="sng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097CC6-58FC-C14C-A67D-33993DCA264C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29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4C1D83-14E1-446E-9F68-6B2CEFE606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C9727B6-CB6D-41D7-8309-AC12CCAEB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944" y="1066356"/>
            <a:ext cx="8732115" cy="4725291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6" y="3070371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2" ma:contentTypeDescription="Crie um novo documento." ma:contentTypeScope="" ma:versionID="feff246cd277a27f35d123d84cd807b2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63ef0cd93e8e9196e5ae6a026ea572a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E7797C-743F-449D-8A61-DE6FFBCABF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752CE0-7599-4DD5-918E-B703E1E0039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BAA0CFB-55BD-45B4-B474-B70CD1725094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12</Slides>
  <Notes>1</Notes>
  <HiddenSlides>0</HiddenSlide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andre.silva</dc:creator>
  <cp:revision>431</cp:revision>
  <dcterms:created xsi:type="dcterms:W3CDTF">2020-08-10T01:14:01Z</dcterms:created>
  <dcterms:modified xsi:type="dcterms:W3CDTF">2026-03-30T19:06:28Z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</Properties>
</file>