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71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embeddedFontLst>
    <p:embeddedFont>
      <p:font typeface="Fira Code" panose="020B0604020202020204" charset="0"/>
      <p:regular r:id="rId22"/>
      <p:bold r:id="rId23"/>
    </p:embeddedFont>
    <p:embeddedFont>
      <p:font typeface="Lato" panose="020B0604020202020204" charset="0"/>
      <p:regular r:id="rId24"/>
      <p:bold r:id="rId25"/>
      <p:italic r:id="rId26"/>
      <p:boldItalic r:id="rId27"/>
    </p:embeddedFont>
    <p:embeddedFont>
      <p:font typeface="Poppins Medium" panose="020B0604020202020204" charset="0"/>
      <p:regular r:id="rId28"/>
      <p:bold r:id="rId29"/>
      <p:italic r:id="rId30"/>
      <p:boldItalic r:id="rId31"/>
    </p:embeddedFont>
    <p:embeddedFont>
      <p:font typeface="Poppins SemiBold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137477-F0AF-36D4-A14F-184F5994C562}" v="10" dt="2026-03-24T22:07:15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8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Carlos da Paixão dos Santos" userId="S::rm573009@fiap.com.br::b1eda624-0b99-4ddf-8f0f-5f921d77fe86" providerId="AD" clId="Web-{76137477-F0AF-36D4-A14F-184F5994C562}"/>
    <pc:docChg chg="modSld">
      <pc:chgData name="Luiz Carlos da Paixão dos Santos" userId="S::rm573009@fiap.com.br::b1eda624-0b99-4ddf-8f0f-5f921d77fe86" providerId="AD" clId="Web-{76137477-F0AF-36D4-A14F-184F5994C562}" dt="2026-03-24T22:07:15.362" v="8" actId="1076"/>
      <pc:docMkLst>
        <pc:docMk/>
      </pc:docMkLst>
      <pc:sldChg chg="modSp">
        <pc:chgData name="Luiz Carlos da Paixão dos Santos" userId="S::rm573009@fiap.com.br::b1eda624-0b99-4ddf-8f0f-5f921d77fe86" providerId="AD" clId="Web-{76137477-F0AF-36D4-A14F-184F5994C562}" dt="2026-03-24T22:07:15.362" v="8" actId="1076"/>
        <pc:sldMkLst>
          <pc:docMk/>
          <pc:sldMk cId="0" sldId="263"/>
        </pc:sldMkLst>
        <pc:spChg chg="mod">
          <ac:chgData name="Luiz Carlos da Paixão dos Santos" userId="S::rm573009@fiap.com.br::b1eda624-0b99-4ddf-8f0f-5f921d77fe86" providerId="AD" clId="Web-{76137477-F0AF-36D4-A14F-184F5994C562}" dt="2026-03-24T22:07:01.534" v="4" actId="20577"/>
          <ac:spMkLst>
            <pc:docMk/>
            <pc:sldMk cId="0" sldId="263"/>
            <ac:spMk id="3" creationId="{CE4F0E3C-427B-1A37-DAA1-1929C892D56B}"/>
          </ac:spMkLst>
        </pc:spChg>
        <pc:picChg chg="mod">
          <ac:chgData name="Luiz Carlos da Paixão dos Santos" userId="S::rm573009@fiap.com.br::b1eda624-0b99-4ddf-8f0f-5f921d77fe86" providerId="AD" clId="Web-{76137477-F0AF-36D4-A14F-184F5994C562}" dt="2026-03-24T22:07:15.362" v="8" actId="1076"/>
          <ac:picMkLst>
            <pc:docMk/>
            <pc:sldMk cId="0" sldId="263"/>
            <ac:picMk id="202" creationId="{00000000-0000-0000-0000-000000000000}"/>
          </ac:picMkLst>
        </pc:picChg>
      </pc:sldChg>
    </pc:docChg>
  </pc:docChgLst>
  <pc:docChgLst>
    <pc:chgData name="Gabriel Saito" userId="S::pf2357@fiap.com.br::8d4c1566-1553-4e16-8347-5644a0af1550" providerId="AD" clId="Web-{D6177129-DB4C-42FA-3D8A-8CEDBC5DDD6C}"/>
    <pc:docChg chg="delSld modSld">
      <pc:chgData name="Gabriel Saito" userId="S::pf2357@fiap.com.br::8d4c1566-1553-4e16-8347-5644a0af1550" providerId="AD" clId="Web-{D6177129-DB4C-42FA-3D8A-8CEDBC5DDD6C}" dt="2026-03-13T03:44:44.108" v="127" actId="1076"/>
      <pc:docMkLst>
        <pc:docMk/>
      </pc:docMkLst>
      <pc:sldChg chg="addSp">
        <pc:chgData name="Gabriel Saito" userId="S::pf2357@fiap.com.br::8d4c1566-1553-4e16-8347-5644a0af1550" providerId="AD" clId="Web-{D6177129-DB4C-42FA-3D8A-8CEDBC5DDD6C}" dt="2026-03-13T03:36:40.159" v="0"/>
        <pc:sldMkLst>
          <pc:docMk/>
          <pc:sldMk cId="0" sldId="256"/>
        </pc:sldMkLst>
        <pc:spChg chg="add">
          <ac:chgData name="Gabriel Saito" userId="S::pf2357@fiap.com.br::8d4c1566-1553-4e16-8347-5644a0af1550" providerId="AD" clId="Web-{D6177129-DB4C-42FA-3D8A-8CEDBC5DDD6C}" dt="2026-03-13T03:36:40.159" v="0"/>
          <ac:spMkLst>
            <pc:docMk/>
            <pc:sldMk cId="0" sldId="256"/>
            <ac:spMk id="2" creationId="{445B750B-10D6-F6AA-67C6-89A5C879647A}"/>
          </ac:spMkLst>
        </pc:spChg>
      </pc:sldChg>
      <pc:sldChg chg="addSp delSp modSp">
        <pc:chgData name="Gabriel Saito" userId="S::pf2357@fiap.com.br::8d4c1566-1553-4e16-8347-5644a0af1550" providerId="AD" clId="Web-{D6177129-DB4C-42FA-3D8A-8CEDBC5DDD6C}" dt="2026-03-13T03:43:00.370" v="74" actId="20577"/>
        <pc:sldMkLst>
          <pc:docMk/>
          <pc:sldMk cId="0" sldId="260"/>
        </pc:sldMkLst>
        <pc:spChg chg="add mod">
          <ac:chgData name="Gabriel Saito" userId="S::pf2357@fiap.com.br::8d4c1566-1553-4e16-8347-5644a0af1550" providerId="AD" clId="Web-{D6177129-DB4C-42FA-3D8A-8CEDBC5DDD6C}" dt="2026-03-13T03:43:00.370" v="74" actId="20577"/>
          <ac:spMkLst>
            <pc:docMk/>
            <pc:sldMk cId="0" sldId="260"/>
            <ac:spMk id="2" creationId="{3E611780-F057-0537-068E-7634B90EA1C4}"/>
          </ac:spMkLst>
        </pc:spChg>
        <pc:spChg chg="mod">
          <ac:chgData name="Gabriel Saito" userId="S::pf2357@fiap.com.br::8d4c1566-1553-4e16-8347-5644a0af1550" providerId="AD" clId="Web-{D6177129-DB4C-42FA-3D8A-8CEDBC5DDD6C}" dt="2026-03-13T03:37:49.444" v="21" actId="1076"/>
          <ac:spMkLst>
            <pc:docMk/>
            <pc:sldMk cId="0" sldId="260"/>
            <ac:spMk id="145" creationId="{00000000-0000-0000-0000-000000000000}"/>
          </ac:spMkLst>
        </pc:spChg>
        <pc:picChg chg="add del">
          <ac:chgData name="Gabriel Saito" userId="S::pf2357@fiap.com.br::8d4c1566-1553-4e16-8347-5644a0af1550" providerId="AD" clId="Web-{D6177129-DB4C-42FA-3D8A-8CEDBC5DDD6C}" dt="2026-03-13T03:42:22.165" v="39"/>
          <ac:picMkLst>
            <pc:docMk/>
            <pc:sldMk cId="0" sldId="260"/>
            <ac:picMk id="142" creationId="{00000000-0000-0000-0000-000000000000}"/>
          </ac:picMkLst>
        </pc:picChg>
      </pc:sldChg>
      <pc:sldChg chg="addSp delSp modSp">
        <pc:chgData name="Gabriel Saito" userId="S::pf2357@fiap.com.br::8d4c1566-1553-4e16-8347-5644a0af1550" providerId="AD" clId="Web-{D6177129-DB4C-42FA-3D8A-8CEDBC5DDD6C}" dt="2026-03-13T03:44:44.108" v="127" actId="1076"/>
        <pc:sldMkLst>
          <pc:docMk/>
          <pc:sldMk cId="0" sldId="263"/>
        </pc:sldMkLst>
        <pc:spChg chg="add mod">
          <ac:chgData name="Gabriel Saito" userId="S::pf2357@fiap.com.br::8d4c1566-1553-4e16-8347-5644a0af1550" providerId="AD" clId="Web-{D6177129-DB4C-42FA-3D8A-8CEDBC5DDD6C}" dt="2026-03-13T03:44:25.655" v="120" actId="20577"/>
          <ac:spMkLst>
            <pc:docMk/>
            <pc:sldMk cId="0" sldId="263"/>
            <ac:spMk id="3" creationId="{CE4F0E3C-427B-1A37-DAA1-1929C892D56B}"/>
          </ac:spMkLst>
        </pc:spChg>
        <pc:spChg chg="mod">
          <ac:chgData name="Gabriel Saito" userId="S::pf2357@fiap.com.br::8d4c1566-1553-4e16-8347-5644a0af1550" providerId="AD" clId="Web-{D6177129-DB4C-42FA-3D8A-8CEDBC5DDD6C}" dt="2026-03-13T03:44:44.108" v="127" actId="1076"/>
          <ac:spMkLst>
            <pc:docMk/>
            <pc:sldMk cId="0" sldId="263"/>
            <ac:spMk id="205" creationId="{00000000-0000-0000-0000-000000000000}"/>
          </ac:spMkLst>
        </pc:spChg>
        <pc:picChg chg="add del">
          <ac:chgData name="Gabriel Saito" userId="S::pf2357@fiap.com.br::8d4c1566-1553-4e16-8347-5644a0af1550" providerId="AD" clId="Web-{D6177129-DB4C-42FA-3D8A-8CEDBC5DDD6C}" dt="2026-03-13T03:44:03.732" v="93"/>
          <ac:picMkLst>
            <pc:docMk/>
            <pc:sldMk cId="0" sldId="263"/>
            <ac:picMk id="202" creationId="{00000000-0000-0000-0000-000000000000}"/>
          </ac:picMkLst>
        </pc:picChg>
      </pc:sldChg>
    </pc:docChg>
  </pc:docChgLst>
  <pc:docChgLst>
    <pc:chgData name="Gabriel Saito" userId="S::pf2357@fiap.com.br::8d4c1566-1553-4e16-8347-5644a0af1550" providerId="AD" clId="Web-{11E52F67-06EF-BD82-4544-1CB2B04609ED}"/>
    <pc:docChg chg="addSld modSld">
      <pc:chgData name="Gabriel Saito" userId="S::pf2357@fiap.com.br::8d4c1566-1553-4e16-8347-5644a0af1550" providerId="AD" clId="Web-{11E52F67-06EF-BD82-4544-1CB2B04609ED}" dt="2026-03-16T13:53:48.263" v="26" actId="1076"/>
      <pc:docMkLst>
        <pc:docMk/>
      </pc:docMkLst>
      <pc:sldChg chg="addSp delSp modSp add replId">
        <pc:chgData name="Gabriel Saito" userId="S::pf2357@fiap.com.br::8d4c1566-1553-4e16-8347-5644a0af1550" providerId="AD" clId="Web-{11E52F67-06EF-BD82-4544-1CB2B04609ED}" dt="2026-03-16T13:53:48.263" v="26" actId="1076"/>
        <pc:sldMkLst>
          <pc:docMk/>
          <pc:sldMk cId="2488801623" sldId="271"/>
        </pc:sldMkLst>
        <pc:picChg chg="add mod">
          <ac:chgData name="Gabriel Saito" userId="S::pf2357@fiap.com.br::8d4c1566-1553-4e16-8347-5644a0af1550" providerId="AD" clId="Web-{11E52F67-06EF-BD82-4544-1CB2B04609ED}" dt="2026-03-16T13:53:48.263" v="26" actId="1076"/>
          <ac:picMkLst>
            <pc:docMk/>
            <pc:sldMk cId="2488801623" sldId="271"/>
            <ac:picMk id="2" creationId="{E3E96821-DC73-830A-86CE-2D5EFA8CE367}"/>
          </ac:picMkLst>
        </pc:picChg>
      </pc:sldChg>
    </pc:docChg>
  </pc:docChgLst>
  <pc:docChgLst>
    <pc:chgData name="Gabriel Saito" userId="S::pf2357@fiap.com.br::8d4c1566-1553-4e16-8347-5644a0af1550" providerId="AD" clId="Web-{B3BE54B5-E5EE-9757-CA50-B9C307984BB3}"/>
    <pc:docChg chg="modSld">
      <pc:chgData name="Gabriel Saito" userId="S::pf2357@fiap.com.br::8d4c1566-1553-4e16-8347-5644a0af1550" providerId="AD" clId="Web-{B3BE54B5-E5EE-9757-CA50-B9C307984BB3}" dt="2026-03-17T23:41:56.934" v="13" actId="20577"/>
      <pc:docMkLst>
        <pc:docMk/>
      </pc:docMkLst>
      <pc:sldChg chg="modSp">
        <pc:chgData name="Gabriel Saito" userId="S::pf2357@fiap.com.br::8d4c1566-1553-4e16-8347-5644a0af1550" providerId="AD" clId="Web-{B3BE54B5-E5EE-9757-CA50-B9C307984BB3}" dt="2026-03-17T23:41:56.934" v="13" actId="20577"/>
        <pc:sldMkLst>
          <pc:docMk/>
          <pc:sldMk cId="0" sldId="270"/>
        </pc:sldMkLst>
        <pc:spChg chg="mod">
          <ac:chgData name="Gabriel Saito" userId="S::pf2357@fiap.com.br::8d4c1566-1553-4e16-8347-5644a0af1550" providerId="AD" clId="Web-{B3BE54B5-E5EE-9757-CA50-B9C307984BB3}" dt="2026-03-17T23:41:56.934" v="13" actId="20577"/>
          <ac:spMkLst>
            <pc:docMk/>
            <pc:sldMk cId="0" sldId="270"/>
            <ac:spMk id="364" creationId="{00000000-0000-0000-0000-000000000000}"/>
          </ac:spMkLst>
        </pc:spChg>
      </pc:sldChg>
    </pc:docChg>
  </pc:docChgLst>
  <pc:docChgLst>
    <pc:chgData name="Giovanna Candido Sbegue Garcia" userId="S::rm569471@fiap.com.br::66474d69-0384-4271-bd82-9cf251636b0c" providerId="AD" clId="Web-{551AF5B1-DE91-B8B8-29F3-055E366A58A3}"/>
    <pc:docChg chg="sldOrd">
      <pc:chgData name="Giovanna Candido Sbegue Garcia" userId="S::rm569471@fiap.com.br::66474d69-0384-4271-bd82-9cf251636b0c" providerId="AD" clId="Web-{551AF5B1-DE91-B8B8-29F3-055E366A58A3}" dt="2026-03-21T20:28:03.953" v="1"/>
      <pc:docMkLst>
        <pc:docMk/>
      </pc:docMkLst>
      <pc:sldChg chg="ord">
        <pc:chgData name="Giovanna Candido Sbegue Garcia" userId="S::rm569471@fiap.com.br::66474d69-0384-4271-bd82-9cf251636b0c" providerId="AD" clId="Web-{551AF5B1-DE91-B8B8-29F3-055E366A58A3}" dt="2026-03-21T20:28:01.531" v="0"/>
        <pc:sldMkLst>
          <pc:docMk/>
          <pc:sldMk cId="0" sldId="259"/>
        </pc:sldMkLst>
      </pc:sldChg>
      <pc:sldChg chg="ord">
        <pc:chgData name="Giovanna Candido Sbegue Garcia" userId="S::rm569471@fiap.com.br::66474d69-0384-4271-bd82-9cf251636b0c" providerId="AD" clId="Web-{551AF5B1-DE91-B8B8-29F3-055E366A58A3}" dt="2026-03-21T20:28:03.953" v="1"/>
        <pc:sldMkLst>
          <pc:docMk/>
          <pc:sldMk cId="2488801623" sldId="271"/>
        </pc:sldMkLst>
      </pc:sldChg>
    </pc:docChg>
  </pc:docChgLst>
  <pc:docChgLst>
    <pc:chgData name="Gabriel Saito" userId="S::pf2357@fiap.com.br::8d4c1566-1553-4e16-8347-5644a0af1550" providerId="AD" clId="Web-{69E5EAE0-7A93-E7CE-4015-12DAF8D6BFE6}"/>
    <pc:docChg chg="modSld">
      <pc:chgData name="Gabriel Saito" userId="S::pf2357@fiap.com.br::8d4c1566-1553-4e16-8347-5644a0af1550" providerId="AD" clId="Web-{69E5EAE0-7A93-E7CE-4015-12DAF8D6BFE6}" dt="2026-03-16T13:46:28.677" v="2" actId="1076"/>
      <pc:docMkLst>
        <pc:docMk/>
      </pc:docMkLst>
      <pc:sldChg chg="delSp modSp">
        <pc:chgData name="Gabriel Saito" userId="S::pf2357@fiap.com.br::8d4c1566-1553-4e16-8347-5644a0af1550" providerId="AD" clId="Web-{69E5EAE0-7A93-E7CE-4015-12DAF8D6BFE6}" dt="2026-03-16T13:46:28.677" v="2" actId="1076"/>
        <pc:sldMkLst>
          <pc:docMk/>
          <pc:sldMk cId="0" sldId="260"/>
        </pc:sldMkLst>
        <pc:spChg chg="mod">
          <ac:chgData name="Gabriel Saito" userId="S::pf2357@fiap.com.br::8d4c1566-1553-4e16-8347-5644a0af1550" providerId="AD" clId="Web-{69E5EAE0-7A93-E7CE-4015-12DAF8D6BFE6}" dt="2026-03-16T13:46:28.677" v="2" actId="1076"/>
          <ac:spMkLst>
            <pc:docMk/>
            <pc:sldMk cId="0" sldId="260"/>
            <ac:spMk id="2" creationId="{3E611780-F057-0537-068E-7634B90EA1C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EEC672A7-AC05-B3DA-6823-5BACD5052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7C05FF5C-8DC4-ACA6-2917-04844D817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DAC34EA5-73BD-BC80-FB13-0C607F7259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5263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9.png"/><Relationship Id="rId5" Type="http://schemas.openxmlformats.org/officeDocument/2006/relationships/image" Target="../media/image17.png"/><Relationship Id="rId10" Type="http://schemas.openxmlformats.org/officeDocument/2006/relationships/image" Target="../media/image28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95500" y="2241351"/>
            <a:ext cx="8001000" cy="146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0" i="0" u="none" strike="noStrike" cap="none">
                <a:solidFill>
                  <a:srgbClr val="F3F4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Coding for Security: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2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Estruturas de Decisão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946326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Ensinando as suas ferramentas a tomar decisões críticas utilizando if, elif, else e operadores lógicos.</a:t>
            </a:r>
            <a:endParaRPr/>
          </a:p>
        </p:txBody>
      </p:sp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445B750B-10D6-F6AA-67C6-89A5C879647A}"/>
              </a:ext>
            </a:extLst>
          </p:cNvPr>
          <p:cNvSpPr txBox="1"/>
          <p:nvPr/>
        </p:nvSpPr>
        <p:spPr>
          <a:xfrm>
            <a:off x="4491037" y="5869334"/>
            <a:ext cx="32099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Prof. Gabriel Saito | FIAP - </a:t>
            </a: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1º</a:t>
            </a: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Semestre</a:t>
            </a:r>
            <a:endParaRPr err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771525" y="771525"/>
            <a:ext cx="4990623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F3F4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Rota da Semana 3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81025" y="771525"/>
            <a:ext cx="47625" cy="647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81025" y="2626221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Nesta semana, saímos dos scripts estáticos e entramos no mundo da verdadeira automação defensiva.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85825" y="3426321"/>
            <a:ext cx="46386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O computador tomando decisões (if).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3858666"/>
            <a:ext cx="46672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O caminho padrão da falha (else).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23925" y="4291012"/>
            <a:ext cx="46005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Avaliando múltiplos cenários de risco (elif).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4723358"/>
            <a:ext cx="4619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Combinando lógicas (and, or).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469183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901529"/>
            <a:ext cx="1333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33875"/>
            <a:ext cx="2000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766220"/>
            <a:ext cx="1809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/>
          <p:nvPr/>
        </p:nvSpPr>
        <p:spPr>
          <a:xfrm>
            <a:off x="8662987" y="9525"/>
            <a:ext cx="952500" cy="683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990486" y="2125116"/>
            <a:ext cx="8211026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Encontro 1: Fundamentos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381625" y="3534816"/>
            <a:ext cx="1428750" cy="381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2286000" y="3858666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O coração de qualquer script de automação é a sua capacidade de avaliar condições do ambiente e reagir em conformidade.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38312"/>
            <a:ext cx="5276850" cy="441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38312"/>
            <a:ext cx="527685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971550" y="2128837"/>
            <a:ext cx="472059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Tomada de Decisão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71550" y="2709862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Na segurança, precisamos que a ferramenta atue de forma diferente com base no que ela descobre durante a execução.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71550" y="3767137"/>
            <a:ext cx="44958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O if (se) pergunta ao Python: </a:t>
            </a:r>
            <a:r>
              <a:rPr lang="en-US" sz="1500" b="0" i="1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"Esta condição é Verdadeira?"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71550" y="4538662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Se for verdadeira, ele executa um bloco de código específico.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24650" y="2128837"/>
            <a:ext cx="472059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Operadores Lógicos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24650" y="2709862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Avaliamos dados (como IPs e portas) utilizando comparadores lógicos: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724650" y="5005387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Cuidado: A indentação (tab/espaço) abaixo do if é OBRIGATÓRIA!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195512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195512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010400" y="3462337"/>
            <a:ext cx="42100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== (Igual a) | != (Diferente de)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010400" y="3976687"/>
            <a:ext cx="42100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&gt; (Maior que) | &lt; (Menor que)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010400" y="4491037"/>
            <a:ext cx="42100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&gt;= (Maior ou igual)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4650" y="507206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71525" y="581025"/>
            <a:ext cx="11381422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F3F4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é o "if"?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81025" y="581025"/>
            <a:ext cx="47625" cy="647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4650" y="348138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4650" y="399573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4650" y="4510087"/>
            <a:ext cx="1905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16">
          <a:extLst>
            <a:ext uri="{FF2B5EF4-FFF2-40B4-BE49-F238E27FC236}">
              <a16:creationId xmlns:a16="http://schemas.microsoft.com/office/drawing/2014/main" id="{4CEC75CB-E1A4-784D-7E72-14D93FC81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E3E96821-DC73-830A-86CE-2D5EFA8CE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9" y="989183"/>
            <a:ext cx="12027242" cy="519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01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33600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81025" y="1506071"/>
            <a:ext cx="5276850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Vamos </a:t>
            </a:r>
            <a:r>
              <a:rPr lang="en-US" sz="18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criar</a:t>
            </a:r>
            <a:r>
              <a:rPr lang="en-US" sz="18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um script </a:t>
            </a:r>
            <a:r>
              <a:rPr lang="en-US" sz="18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8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analisa</a:t>
            </a:r>
            <a:r>
              <a:rPr lang="en-US" sz="18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8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uma</a:t>
            </a:r>
            <a:r>
              <a:rPr lang="en-US" sz="18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porta </a:t>
            </a:r>
            <a:r>
              <a:rPr lang="en-US" sz="18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encontrada</a:t>
            </a:r>
            <a:r>
              <a:rPr lang="en-US" sz="18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aberta</a:t>
            </a:r>
            <a:r>
              <a:rPr lang="en-US" sz="18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representa</a:t>
            </a:r>
            <a:r>
              <a:rPr lang="en-US" sz="18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um </a:t>
            </a:r>
            <a:r>
              <a:rPr lang="en-US" sz="18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risco</a:t>
            </a:r>
            <a:r>
              <a:rPr lang="en-US" sz="18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imediato</a:t>
            </a:r>
            <a:r>
              <a:rPr lang="en-US" sz="18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acesso</a:t>
            </a:r>
            <a:r>
              <a:rPr lang="en-US" sz="18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lateral.</a:t>
            </a:r>
            <a:endParaRPr lang="pt-BR" sz="2400"/>
          </a:p>
        </p:txBody>
      </p:sp>
      <p:pic>
        <p:nvPicPr>
          <p:cNvPr id="158" name="Google Shape;15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143125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771525" y="581025"/>
            <a:ext cx="11381422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F3F4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💻 Code Along 1: Verificador de Porta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81025" y="581025"/>
            <a:ext cx="47625" cy="647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E611780-F057-0537-068E-7634B90EA1C4}"/>
              </a:ext>
            </a:extLst>
          </p:cNvPr>
          <p:cNvSpPr txBox="1"/>
          <p:nvPr/>
        </p:nvSpPr>
        <p:spPr>
          <a:xfrm>
            <a:off x="364191" y="3424518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"--- Scanner de Rede CLI ---"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r>
              <a:rPr lang="en-US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porta_alvo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>
                <a:solidFill>
                  <a:srgbClr val="4EC9B0"/>
                </a:solidFill>
                <a:latin typeface="Menlo"/>
                <a:ea typeface="Menlo"/>
                <a:cs typeface="Menlo"/>
              </a:rPr>
              <a:t>int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>
                <a:solidFill>
                  <a:srgbClr val="DCDCAA"/>
                </a:solidFill>
                <a:latin typeface="Menlo"/>
                <a:ea typeface="Menlo"/>
                <a:cs typeface="Menlo"/>
              </a:rPr>
              <a:t>input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Digite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a porta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encontrada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aberta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: "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))</a:t>
            </a:r>
          </a:p>
          <a:p>
            <a:endParaRPr lang="en-US">
              <a:latin typeface="Menlo"/>
              <a:ea typeface="Menlo"/>
              <a:cs typeface="Menlo"/>
            </a:endParaRPr>
          </a:p>
          <a:p>
            <a:r>
              <a:rPr lang="en-US">
                <a:solidFill>
                  <a:srgbClr val="C586C0"/>
                </a:solidFill>
                <a:latin typeface="Menlo"/>
                <a:ea typeface="Menlo"/>
                <a:cs typeface="Menlo"/>
              </a:rPr>
              <a:t>if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porta_alvo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>
                <a:solidFill>
                  <a:srgbClr val="D4D4D4"/>
                </a:solidFill>
                <a:latin typeface="Menlo"/>
                <a:ea typeface="Menlo"/>
                <a:cs typeface="Menlo"/>
              </a:rPr>
              <a:t>==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>
                <a:solidFill>
                  <a:srgbClr val="B5CEA8"/>
                </a:solidFill>
                <a:latin typeface="Menlo"/>
                <a:ea typeface="Menlo"/>
                <a:cs typeface="Menlo"/>
              </a:rPr>
              <a:t>22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>
                <a:solidFill>
                  <a:srgbClr val="D7BA7D"/>
                </a:solidFill>
                <a:latin typeface="Menlo"/>
                <a:ea typeface="Menlo"/>
                <a:cs typeface="Menlo"/>
              </a:rPr>
              <a:t>\n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[!]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Atenção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: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Serviço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SSH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detectado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.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Possível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vetor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de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acesso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lateral."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endParaRPr lang="en-US">
              <a:latin typeface="Menlo"/>
              <a:ea typeface="Menlo"/>
              <a:cs typeface="Menlo"/>
            </a:endParaRPr>
          </a:p>
          <a:p>
            <a:r>
              <a:rPr lang="en-US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>
                <a:solidFill>
                  <a:srgbClr val="D7BA7D"/>
                </a:solidFill>
                <a:latin typeface="Menlo"/>
                <a:ea typeface="Menlo"/>
                <a:cs typeface="Menlo"/>
              </a:rPr>
              <a:t>\n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[*]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Varredura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concluída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."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endParaRPr lang="en-US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95487"/>
            <a:ext cx="348615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995487"/>
            <a:ext cx="348615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995487"/>
            <a:ext cx="348615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3383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923925" y="3243262"/>
            <a:ext cx="144018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Desafio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23925" y="3824287"/>
            <a:ext cx="28003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Simule a lógica de bloqueio de uma firewall. Peça ao utilizador que digite um endereço IP de origem que acabou de tentar uma ligação na rede.</a:t>
            </a:r>
            <a:endParaRPr/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3383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4695825" y="3243262"/>
            <a:ext cx="118014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Regra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4695825" y="3824287"/>
            <a:ext cx="2800350" cy="158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Use o comando input() para receber o IP e a estrutura if para verificar se esse IP é </a:t>
            </a:r>
            <a:r>
              <a:rPr lang="en-US" sz="1500" b="1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exatamente igual</a:t>
            </a: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a "192.168.1.50" (IP malicioso).</a:t>
            </a:r>
            <a:endParaRPr/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3383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8467725" y="3243262"/>
            <a:ext cx="182022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Resultado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467725" y="3824287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Se a condição bater, o script deve imprimir a mensagem de alerta: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"[CRÍTICO] Acesso bloqueado"</a:t>
            </a: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178" name="Google Shape;178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800" y="24812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91075" y="24812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10600" y="24812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771525" y="581025"/>
            <a:ext cx="11381422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F3F4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⚙️ Atividade 1: Filtro de Blocklist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81025" y="581025"/>
            <a:ext cx="47625" cy="647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771525" y="771525"/>
            <a:ext cx="4990623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F3F4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"Else": Caminho Padrão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81025" y="771525"/>
            <a:ext cx="47625" cy="129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581025" y="2683371"/>
            <a:ext cx="49434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E quando a condição inicial do if falha?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581025" y="3197721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Na área de cibersegurança, a "falha" da condição de deteção (a ausência de um evento malicioso) geralmente representa o </a:t>
            </a:r>
            <a:r>
              <a:rPr lang="en-US" sz="1500" b="1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comportamento normal</a:t>
            </a: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da rede.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85825" y="4302621"/>
            <a:ext cx="46386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O else trata este cenário: </a:t>
            </a:r>
            <a:r>
              <a:rPr lang="en-US" sz="1425" b="0" i="1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"Se não for a ameaça, faça aquilo"</a:t>
            </a:r>
            <a:r>
              <a:rPr lang="en-US" sz="142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85825" y="5024437"/>
            <a:ext cx="46386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Ele não recebe uma condição. É executado como último recurso.</a:t>
            </a:r>
            <a:endParaRPr/>
          </a:p>
        </p:txBody>
      </p:sp>
      <p:pic>
        <p:nvPicPr>
          <p:cNvPr id="195" name="Google Shape;19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345483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067300"/>
            <a:ext cx="1619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/>
          <p:nvPr/>
        </p:nvSpPr>
        <p:spPr>
          <a:xfrm>
            <a:off x="8662987" y="9525"/>
            <a:ext cx="952500" cy="683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206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33600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407334" y="1410821"/>
            <a:ext cx="52768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Vamos </a:t>
            </a:r>
            <a:r>
              <a:rPr lang="en-US" sz="20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auditar</a:t>
            </a:r>
            <a:r>
              <a:rPr lang="en-US" sz="20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20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tamanho</a:t>
            </a:r>
            <a:r>
              <a:rPr lang="en-US" sz="20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0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uma</a:t>
            </a:r>
            <a:r>
              <a:rPr lang="en-US" sz="20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palavra</a:t>
            </a:r>
            <a:r>
              <a:rPr lang="en-US" sz="20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-passe para </a:t>
            </a:r>
            <a:r>
              <a:rPr lang="en-US" sz="20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decidir</a:t>
            </a:r>
            <a:r>
              <a:rPr lang="en-US" sz="20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20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ela</a:t>
            </a:r>
            <a:r>
              <a:rPr lang="en-US" sz="20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atende</a:t>
            </a:r>
            <a:r>
              <a:rPr lang="en-US" sz="20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ou</a:t>
            </a:r>
            <a:r>
              <a:rPr lang="en-US" sz="20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não</a:t>
            </a:r>
            <a:r>
              <a:rPr lang="en-US" sz="20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à </a:t>
            </a:r>
            <a:r>
              <a:rPr lang="en-US" sz="20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política</a:t>
            </a:r>
            <a:r>
              <a:rPr lang="en-US" sz="20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mínima</a:t>
            </a:r>
            <a:r>
              <a:rPr lang="en-US" sz="20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de 8 </a:t>
            </a:r>
            <a:r>
              <a:rPr lang="en-US" sz="2000" b="0" i="0" u="none" strike="noStrike" cap="none" err="1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caracteres</a:t>
            </a:r>
            <a:r>
              <a:rPr lang="en-US" sz="20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/>
          </a:p>
        </p:txBody>
      </p:sp>
      <p:pic>
        <p:nvPicPr>
          <p:cNvPr id="216" name="Google Shape;21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143125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771525" y="581025"/>
            <a:ext cx="11381422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F3F4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💻 Code Along 2: O bloco "Else"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81025" y="581025"/>
            <a:ext cx="47625" cy="647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4F0E3C-427B-1A37-DAA1-1929C892D56B}"/>
              </a:ext>
            </a:extLst>
          </p:cNvPr>
          <p:cNvSpPr txBox="1"/>
          <p:nvPr/>
        </p:nvSpPr>
        <p:spPr>
          <a:xfrm>
            <a:off x="173691" y="3221691"/>
            <a:ext cx="609600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"--- Auditoria de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Senhas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---"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r>
              <a:rPr lang="en-US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senha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>
                <a:solidFill>
                  <a:srgbClr val="DCDCAA"/>
                </a:solidFill>
                <a:latin typeface="Menlo"/>
                <a:ea typeface="Menlo"/>
                <a:cs typeface="Menlo"/>
              </a:rPr>
              <a:t>input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Digite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a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senha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para auditoria: "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endParaRPr lang="en-US">
              <a:latin typeface="Menlo"/>
              <a:ea typeface="Menlo"/>
              <a:cs typeface="Menlo"/>
            </a:endParaRPr>
          </a:p>
          <a:p>
            <a:r>
              <a:rPr lang="en-US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tamanho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len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senha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>
                <a:latin typeface="Menlo"/>
                <a:ea typeface="Menlo"/>
                <a:cs typeface="Menlo"/>
              </a:rPr>
            </a:br>
            <a:r>
              <a:rPr lang="en-US">
                <a:solidFill>
                  <a:srgbClr val="C586C0"/>
                </a:solidFill>
                <a:latin typeface="Menlo"/>
                <a:ea typeface="Menlo"/>
                <a:cs typeface="Menlo"/>
              </a:rPr>
              <a:t>if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tamanho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>
                <a:solidFill>
                  <a:srgbClr val="D4D4D4"/>
                </a:solidFill>
                <a:latin typeface="Menlo"/>
                <a:ea typeface="Menlo"/>
                <a:cs typeface="Menlo"/>
              </a:rPr>
              <a:t>&gt;=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>
                <a:solidFill>
                  <a:srgbClr val="B5CEA8"/>
                </a:solidFill>
                <a:latin typeface="Menlo"/>
                <a:ea typeface="Menlo"/>
                <a:cs typeface="Menlo"/>
              </a:rPr>
              <a:t>8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"[+] Senha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aprovada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nas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políticas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de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tamanho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mínimo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."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r>
              <a:rPr lang="en-US">
                <a:solidFill>
                  <a:srgbClr val="C586C0"/>
                </a:solidFill>
                <a:latin typeface="Menlo"/>
                <a:ea typeface="Menlo"/>
                <a:cs typeface="Menlo"/>
              </a:rPr>
              <a:t>else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"[-] Falha: A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senha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possui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menos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de 8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caracteres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e é </a:t>
            </a:r>
            <a:r>
              <a:rPr lang="en-US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vulnerável</a:t>
            </a:r>
            <a:r>
              <a:rPr lang="en-US">
                <a:solidFill>
                  <a:srgbClr val="CE9178"/>
                </a:solidFill>
                <a:latin typeface="Menlo"/>
                <a:ea typeface="Menlo"/>
                <a:cs typeface="Menlo"/>
              </a:rPr>
              <a:t> a brute-force."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endParaRPr lang="en-US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endParaRPr lang="en-US">
              <a:solidFill>
                <a:srgbClr val="CCCCCC"/>
              </a:solidFill>
              <a:latin typeface="Menlo"/>
            </a:endParaRPr>
          </a:p>
          <a:p>
            <a:endParaRPr lang="en-US">
              <a:solidFill>
                <a:srgbClr val="CCCCCC"/>
              </a:solidFill>
              <a:latin typeface="Menlo"/>
            </a:endParaRPr>
          </a:p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95487"/>
            <a:ext cx="348615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995487"/>
            <a:ext cx="348615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995487"/>
            <a:ext cx="348615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3383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923925" y="3243262"/>
            <a:ext cx="144018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Desafio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923925" y="3824287"/>
            <a:ext cx="28003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Crie um script que simula um painel de login pedindo usuario e palavra_passe via input().</a:t>
            </a:r>
            <a:endParaRPr/>
          </a:p>
        </p:txBody>
      </p:sp>
      <p:pic>
        <p:nvPicPr>
          <p:cNvPr id="230" name="Google Shape;230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3383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4695825" y="3243262"/>
            <a:ext cx="2050256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Aninhamento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4695825" y="3824287"/>
            <a:ext cx="2800350" cy="158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Verifique primeiro se o utilizador é "admin". </a:t>
            </a:r>
            <a:r>
              <a:rPr lang="en-US" sz="1500" b="1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Se for</a:t>
            </a: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, coloque *outro* if dentro do primeiro para verificar se a palavra-passe é "12345".</a:t>
            </a:r>
            <a:endParaRPr/>
          </a:p>
        </p:txBody>
      </p:sp>
      <p:pic>
        <p:nvPicPr>
          <p:cNvPr id="233" name="Google Shape;233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3383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8467725" y="3243262"/>
            <a:ext cx="182022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Resultado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8467725" y="3824287"/>
            <a:ext cx="2800350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Se ambos certos: "[+] Acesso Concedido".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Use os blocos else para dar "[!] Acesso Negado" caso contrário.</a:t>
            </a:r>
            <a:endParaRPr/>
          </a:p>
        </p:txBody>
      </p:sp>
      <p:pic>
        <p:nvPicPr>
          <p:cNvPr id="236" name="Google Shape;236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90612" y="248126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14887" y="248126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86787" y="248126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771525" y="581025"/>
            <a:ext cx="11381422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F3F4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⚙️ Atividade 2: Simulador Auth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581025" y="581025"/>
            <a:ext cx="47625" cy="647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805338" y="2120354"/>
            <a:ext cx="10581322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Encontro 2: Cenários Complexos</a:t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5381625" y="3530054"/>
            <a:ext cx="1428750" cy="381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2286000" y="3853904"/>
            <a:ext cx="7620000" cy="740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Avaliando múltiplos cenários de risco com elif e operadores lógicos para defesas avançadas.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19375"/>
            <a:ext cx="348615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619375"/>
            <a:ext cx="348615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619375"/>
            <a:ext cx="348615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3"/>
          <p:cNvSpPr txBox="1"/>
          <p:nvPr/>
        </p:nvSpPr>
        <p:spPr>
          <a:xfrm>
            <a:off x="581025" y="1704975"/>
            <a:ext cx="110299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Na triagem de incidentes, o mundo não é apenas preto ou branco. O elif permite encadear avaliações. O Python testará de cima para baixo até </a:t>
            </a:r>
            <a:r>
              <a:rPr lang="en-US" sz="1500" b="1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uma</a:t>
            </a: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ser verdadeira.</a:t>
            </a:r>
            <a:endParaRPr/>
          </a:p>
        </p:txBody>
      </p:sp>
      <p:pic>
        <p:nvPicPr>
          <p:cNvPr id="258" name="Google Shape;25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9908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923925" y="3895725"/>
            <a:ext cx="1170146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1. Se (if)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923925" y="4476750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Verifica o risco mais grave primeiro. Exemplo: Se Score CVSS &gt;= 9.0, acione resposta imediata.</a:t>
            </a:r>
            <a:endParaRPr/>
          </a:p>
        </p:txBody>
      </p:sp>
      <p:pic>
        <p:nvPicPr>
          <p:cNvPr id="261" name="Google Shape;261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9908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4695825" y="3895725"/>
            <a:ext cx="252031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2. Senão se (elif)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4695825" y="4476750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Se o bloco acima for falso, testa uma nova faixa. Exemplo: Score &gt;= 7.0, agendar patch na próxima janela.</a:t>
            </a:r>
            <a:endParaRPr/>
          </a:p>
        </p:txBody>
      </p:sp>
      <p:pic>
        <p:nvPicPr>
          <p:cNvPr id="264" name="Google Shape;264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9908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8467725" y="3895725"/>
            <a:ext cx="226028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3. Senão (else)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8467725" y="4476750"/>
            <a:ext cx="2800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Se nada bater, cai na regra padrão geral. Exemplo: Risco aceitável ou falso positivo.</a:t>
            </a:r>
            <a:endParaRPr/>
          </a:p>
        </p:txBody>
      </p:sp>
      <p:pic>
        <p:nvPicPr>
          <p:cNvPr id="267" name="Google Shape;267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90612" y="313372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38700" y="31337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729662" y="3133725"/>
            <a:ext cx="1428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771525" y="581025"/>
            <a:ext cx="11381422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F3F4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Múltiplas Rotas (`elif`)</a:t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581025" y="581025"/>
            <a:ext cx="47625" cy="647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66975"/>
            <a:ext cx="1102995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581025" y="187642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Assim que o script encontra uma verdade, ele executa o bloco e pula o resto.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781050" y="2686050"/>
            <a:ext cx="60579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rPr>
              <a:t># Usamos float() porque o score contém casas decimais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1695450" y="297180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2381250" y="297180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input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3067050" y="2971800"/>
            <a:ext cx="30861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"Score CVSS (0.0 a 10.0): "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781050" y="3543300"/>
            <a:ext cx="2286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2152650" y="3543300"/>
            <a:ext cx="3429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9.0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1238250" y="38290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print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1924050" y="382905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"[CRÍTICO] Correção imediata!"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781050" y="4114800"/>
            <a:ext cx="4572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elif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2381250" y="4114800"/>
            <a:ext cx="3429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7.0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1238250" y="44005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print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1924050" y="4400550"/>
            <a:ext cx="26289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"[ALTO] Agendar patch."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781050" y="4686300"/>
            <a:ext cx="4572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elif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2381250" y="4686300"/>
            <a:ext cx="3429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4.0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1238250" y="49720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print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1924050" y="4972050"/>
            <a:ext cx="41148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"[MÉDIO] Corrigir no próximo ciclo."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781050" y="5257800"/>
            <a:ext cx="4572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else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1238250" y="55435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print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1924050" y="5543550"/>
            <a:ext cx="29718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"[BAIXO] Risco aceitável."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771525" y="581025"/>
            <a:ext cx="11381422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F3F4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💻 Code Along 3: Classificador CVSS</a:t>
            </a:r>
            <a:endParaRPr/>
          </a:p>
        </p:txBody>
      </p:sp>
      <p:sp>
        <p:nvSpPr>
          <p:cNvPr id="299" name="Google Shape;299;p24"/>
          <p:cNvSpPr/>
          <p:nvPr/>
        </p:nvSpPr>
        <p:spPr>
          <a:xfrm>
            <a:off x="581025" y="581025"/>
            <a:ext cx="47625" cy="647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85082"/>
            <a:ext cx="5276850" cy="371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85082"/>
            <a:ext cx="5276850" cy="3716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3809107"/>
            <a:ext cx="449580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3809107"/>
            <a:ext cx="4495800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5"/>
          <p:cNvSpPr txBox="1"/>
          <p:nvPr/>
        </p:nvSpPr>
        <p:spPr>
          <a:xfrm>
            <a:off x="971550" y="2475607"/>
            <a:ext cx="472059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B82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Operador and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971550" y="3056632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Com o </a:t>
            </a:r>
            <a:r>
              <a:rPr lang="en-US" sz="1500" b="1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AND (E)</a:t>
            </a: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1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todas</a:t>
            </a: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as condições combinadas devem ser verdadeiras para o bloco executar.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971550" y="4780657"/>
            <a:ext cx="44958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Útil para correlacionar eventos (Logins fora do horário E do utilizador administrador).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6724650" y="2475607"/>
            <a:ext cx="472059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59E0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Operador or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6724650" y="3056632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Com o </a:t>
            </a:r>
            <a:r>
              <a:rPr lang="en-US" sz="1500" b="1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OR (OU)</a:t>
            </a: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, basta que </a:t>
            </a:r>
            <a:r>
              <a:rPr lang="en-US" sz="1500" b="0" i="1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uma única</a:t>
            </a: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condição seja verdadeira para o bloco inteiro executar.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6724650" y="4780657"/>
            <a:ext cx="44958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Útil para listas de ameaças: Ou detetou a assinatura de malware A, OU a assinatura B.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1171575" y="4018657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2028825" y="4018657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2200275" y="4018657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and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3228975" y="4018657"/>
            <a:ext cx="514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"root"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1343025" y="4232969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print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1857375" y="4232969"/>
            <a:ext cx="23145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"Acesso root fora de hora!"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6924675" y="4018657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8382000" y="4018657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8553450" y="4018657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or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7096125" y="4232969"/>
            <a:ext cx="428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print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7610475" y="4232969"/>
            <a:ext cx="2400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"Bloqueio preventivo de IP."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771525" y="581025"/>
            <a:ext cx="11381422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F3F4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Operadores Lógicos: A Tabela Verdade</a:t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581025" y="581025"/>
            <a:ext cx="47625" cy="647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895600"/>
            <a:ext cx="1102995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6"/>
          <p:cNvSpPr txBox="1"/>
          <p:nvPr/>
        </p:nvSpPr>
        <p:spPr>
          <a:xfrm>
            <a:off x="581025" y="230505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Combinando duas informações diferentes para decidir se um login é uma ameaça.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1581150" y="3114675"/>
            <a:ext cx="3429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2038350" y="3114675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input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2724150" y="3114675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"Hora do acesso (0-23): "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1924050" y="3400425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input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2609850" y="3400425"/>
            <a:ext cx="25146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"Nome do utilizador: "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781050" y="3971925"/>
            <a:ext cx="46863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rPr>
              <a:t># Ambas as condições precisam ser verdade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781050" y="4257675"/>
            <a:ext cx="2286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2152650" y="4257675"/>
            <a:ext cx="1143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343" name="Google Shape;343;p26"/>
          <p:cNvSpPr txBox="1"/>
          <p:nvPr/>
        </p:nvSpPr>
        <p:spPr>
          <a:xfrm>
            <a:off x="2381250" y="4257675"/>
            <a:ext cx="3429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and</a:t>
            </a:r>
            <a:endParaRPr/>
          </a:p>
        </p:txBody>
      </p:sp>
      <p:sp>
        <p:nvSpPr>
          <p:cNvPr id="344" name="Google Shape;344;p26"/>
          <p:cNvSpPr txBox="1"/>
          <p:nvPr/>
        </p:nvSpPr>
        <p:spPr>
          <a:xfrm>
            <a:off x="3752850" y="4257675"/>
            <a:ext cx="1143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4095750" y="4257675"/>
            <a:ext cx="3429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and</a:t>
            </a:r>
            <a:endParaRPr/>
          </a:p>
        </p:txBody>
      </p:sp>
      <p:sp>
        <p:nvSpPr>
          <p:cNvPr id="346" name="Google Shape;346;p26"/>
          <p:cNvSpPr txBox="1"/>
          <p:nvPr/>
        </p:nvSpPr>
        <p:spPr>
          <a:xfrm>
            <a:off x="5810250" y="4257675"/>
            <a:ext cx="6858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"root"</a:t>
            </a:r>
            <a:endParaRPr/>
          </a:p>
        </p:txBody>
      </p:sp>
      <p:sp>
        <p:nvSpPr>
          <p:cNvPr id="347" name="Google Shape;347;p26"/>
          <p:cNvSpPr txBox="1"/>
          <p:nvPr/>
        </p:nvSpPr>
        <p:spPr>
          <a:xfrm>
            <a:off x="1238250" y="4543425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print</a:t>
            </a:r>
            <a:endParaRPr/>
          </a:p>
        </p:txBody>
      </p:sp>
      <p:sp>
        <p:nvSpPr>
          <p:cNvPr id="348" name="Google Shape;348;p26"/>
          <p:cNvSpPr txBox="1"/>
          <p:nvPr/>
        </p:nvSpPr>
        <p:spPr>
          <a:xfrm>
            <a:off x="1924050" y="4543425"/>
            <a:ext cx="42291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"[ALERTA] Acesso root fora de horas."</a:t>
            </a:r>
            <a:endParaRPr/>
          </a:p>
        </p:txBody>
      </p:sp>
      <p:sp>
        <p:nvSpPr>
          <p:cNvPr id="349" name="Google Shape;349;p26"/>
          <p:cNvSpPr txBox="1"/>
          <p:nvPr/>
        </p:nvSpPr>
        <p:spPr>
          <a:xfrm>
            <a:off x="781050" y="4829175"/>
            <a:ext cx="4572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else</a:t>
            </a:r>
            <a:endParaRPr/>
          </a:p>
        </p:txBody>
      </p:sp>
      <p:sp>
        <p:nvSpPr>
          <p:cNvPr id="350" name="Google Shape;350;p26"/>
          <p:cNvSpPr txBox="1"/>
          <p:nvPr/>
        </p:nvSpPr>
        <p:spPr>
          <a:xfrm>
            <a:off x="1238250" y="5114925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print</a:t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1924050" y="5114925"/>
            <a:ext cx="30861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"[*] Log de acesso normal."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771525" y="581025"/>
            <a:ext cx="11381422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F3F4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💻 Code Along 4: Regra de SIEM (And)</a:t>
            </a:r>
            <a:endParaRPr/>
          </a:p>
        </p:txBody>
      </p:sp>
      <p:sp>
        <p:nvSpPr>
          <p:cNvPr id="353" name="Google Shape;353;p26"/>
          <p:cNvSpPr/>
          <p:nvPr/>
        </p:nvSpPr>
        <p:spPr>
          <a:xfrm>
            <a:off x="581025" y="581025"/>
            <a:ext cx="47625" cy="647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7"/>
          <p:cNvSpPr txBox="1"/>
          <p:nvPr/>
        </p:nvSpPr>
        <p:spPr>
          <a:xfrm>
            <a:off x="771525" y="771525"/>
            <a:ext cx="4990623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F3F4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⚙️ Desafio Final: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375" b="0" i="0" u="none" strike="noStrike" cap="none">
                <a:solidFill>
                  <a:srgbClr val="F3F4F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Motor de WAF</a:t>
            </a:r>
            <a:endParaRPr/>
          </a:p>
        </p:txBody>
      </p:sp>
      <p:sp>
        <p:nvSpPr>
          <p:cNvPr id="360" name="Google Shape;360;p27"/>
          <p:cNvSpPr/>
          <p:nvPr/>
        </p:nvSpPr>
        <p:spPr>
          <a:xfrm>
            <a:off x="581025" y="771525"/>
            <a:ext cx="47625" cy="129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7"/>
          <p:cNvSpPr txBox="1"/>
          <p:nvPr/>
        </p:nvSpPr>
        <p:spPr>
          <a:xfrm>
            <a:off x="581025" y="2757636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Foi encarregado de construir a lógica de deteção de uma Web Application Firewall (WAF) rudimentar em Python.</a:t>
            </a:r>
            <a:endParaRPr/>
          </a:p>
        </p:txBody>
      </p:sp>
      <p:sp>
        <p:nvSpPr>
          <p:cNvPr id="363" name="Google Shape;363;p27"/>
          <p:cNvSpPr txBox="1"/>
          <p:nvPr/>
        </p:nvSpPr>
        <p:spPr>
          <a:xfrm>
            <a:off x="923925" y="3652986"/>
            <a:ext cx="46005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Peça ao utilizador que insira um </a:t>
            </a:r>
            <a:r>
              <a:rPr lang="en-US" sz="1425" b="1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"Payload"</a:t>
            </a:r>
            <a:r>
              <a:rPr lang="en-US" sz="142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(string).</a:t>
            </a:r>
            <a:endParaRPr/>
          </a:p>
        </p:txBody>
      </p:sp>
      <p:sp>
        <p:nvSpPr>
          <p:cNvPr id="364" name="Google Shape;364;p27"/>
          <p:cNvSpPr txBox="1"/>
          <p:nvPr/>
        </p:nvSpPr>
        <p:spPr>
          <a:xfrm>
            <a:off x="904875" y="4085332"/>
            <a:ext cx="46196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29"/>
              </a:lnSpc>
            </a:pPr>
            <a:r>
              <a:rPr lang="en-US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Use o </a:t>
            </a:r>
            <a:r>
              <a:rPr lang="en-US" b="0" i="0" u="none" strike="noStrike" cap="none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operador</a:t>
            </a:r>
            <a:r>
              <a:rPr lang="en-US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 </a:t>
            </a:r>
            <a:r>
              <a:rPr lang="en-US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o </a:t>
            </a:r>
            <a:r>
              <a:rPr lang="en-US" b="0" i="0" u="none" strike="noStrike" cap="none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operador</a:t>
            </a:r>
            <a:r>
              <a:rPr lang="en-US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lógico</a:t>
            </a:r>
            <a:r>
              <a:rPr lang="en-US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or.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904875" y="4517677"/>
            <a:ext cx="46196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 Regra:</a:t>
            </a:r>
            <a:r>
              <a:rPr lang="en-US" sz="142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Se o payload contiver "SELECT" OU ""&lt;/div&gt;, imprima "Ataque Detetado".</a:t>
            </a:r>
            <a:endParaRPr/>
          </a:p>
        </p:txBody>
      </p:sp>
      <p:sp>
        <p:nvSpPr>
          <p:cNvPr id="366" name="Google Shape;366;p27"/>
          <p:cNvSpPr txBox="1"/>
          <p:nvPr/>
        </p:nvSpPr>
        <p:spPr>
          <a:xfrm>
            <a:off x="904875" y="5239494"/>
            <a:ext cx="4619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Else:</a:t>
            </a:r>
            <a:r>
              <a:rPr lang="en-US" sz="142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Imprima "Requisição HTTP Limpa".</a:t>
            </a:r>
            <a:endParaRPr/>
          </a:p>
        </p:txBody>
      </p:sp>
      <p:pic>
        <p:nvPicPr>
          <p:cNvPr id="367" name="Google Shape;367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695848"/>
            <a:ext cx="2000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128194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560540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282356"/>
            <a:ext cx="1809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7"/>
          <p:cNvSpPr/>
          <p:nvPr/>
        </p:nvSpPr>
        <p:spPr>
          <a:xfrm>
            <a:off x="8662987" y="9525"/>
            <a:ext cx="952500" cy="683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7D49A8764A5C48814EF56013A935E1" ma:contentTypeVersion="32" ma:contentTypeDescription="Crie um novo documento." ma:contentTypeScope="" ma:versionID="feff246cd277a27f35d123d84cd807b2">
  <xsd:schema xmlns:xsd="http://www.w3.org/2001/XMLSchema" xmlns:xs="http://www.w3.org/2001/XMLSchema" xmlns:p="http://schemas.microsoft.com/office/2006/metadata/properties" xmlns:ns2="3b47981c-61e2-4894-9b95-d78484a6277d" xmlns:ns3="b466e2c2-c6c4-42b9-a506-879fde1702df" targetNamespace="http://schemas.microsoft.com/office/2006/metadata/properties" ma:root="true" ma:fieldsID="63ef0cd93e8e9196e5ae6a026ea572a0" ns2:_="" ns3:_="">
    <xsd:import namespace="3b47981c-61e2-4894-9b95-d78484a6277d"/>
    <xsd:import namespace="b466e2c2-c6c4-42b9-a506-879fde1702df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7981c-61e2-4894-9b95-d78484a6277d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6e2c2-c6c4-42b9-a506-879fde1702df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d09d9946-15cf-424c-86ce-06f382dd2afa}" ma:internalName="TaxCatchAll" ma:showField="CatchAllData" ma:web="b466e2c2-c6c4-42b9-a506-879fde1702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3b47981c-61e2-4894-9b95-d78484a6277d">
      <UserInfo>
        <DisplayName/>
        <AccountId xsi:nil="true"/>
        <AccountType/>
      </UserInfo>
    </Student_Groups>
    <Distribution_Groups xmlns="3b47981c-61e2-4894-9b95-d78484a6277d" xsi:nil="true"/>
    <Math_Settings xmlns="3b47981c-61e2-4894-9b95-d78484a6277d" xsi:nil="true"/>
    <Templates xmlns="3b47981c-61e2-4894-9b95-d78484a6277d" xsi:nil="true"/>
    <AppVersion xmlns="3b47981c-61e2-4894-9b95-d78484a6277d" xsi:nil="true"/>
    <TeamsChannelId xmlns="3b47981c-61e2-4894-9b95-d78484a6277d" xsi:nil="true"/>
    <Invited_Teachers xmlns="3b47981c-61e2-4894-9b95-d78484a6277d" xsi:nil="true"/>
    <IsNotebookLocked xmlns="3b47981c-61e2-4894-9b95-d78484a6277d" xsi:nil="true"/>
    <Students xmlns="3b47981c-61e2-4894-9b95-d78484a6277d">
      <UserInfo>
        <DisplayName/>
        <AccountId xsi:nil="true"/>
        <AccountType/>
      </UserInfo>
    </Students>
    <Has_Teacher_Only_SectionGroup xmlns="3b47981c-61e2-4894-9b95-d78484a6277d" xsi:nil="true"/>
    <FolderType xmlns="3b47981c-61e2-4894-9b95-d78484a6277d" xsi:nil="true"/>
    <Teachers xmlns="3b47981c-61e2-4894-9b95-d78484a6277d">
      <UserInfo>
        <DisplayName/>
        <AccountId xsi:nil="true"/>
        <AccountType/>
      </UserInfo>
    </Teachers>
    <lcf76f155ced4ddcb4097134ff3c332f xmlns="3b47981c-61e2-4894-9b95-d78484a6277d">
      <Terms xmlns="http://schemas.microsoft.com/office/infopath/2007/PartnerControls"/>
    </lcf76f155ced4ddcb4097134ff3c332f>
    <Self_Registration_Enabled xmlns="3b47981c-61e2-4894-9b95-d78484a6277d" xsi:nil="true"/>
    <LMS_Mappings xmlns="3b47981c-61e2-4894-9b95-d78484a6277d" xsi:nil="true"/>
    <NotebookType xmlns="3b47981c-61e2-4894-9b95-d78484a6277d" xsi:nil="true"/>
    <DefaultSectionNames xmlns="3b47981c-61e2-4894-9b95-d78484a6277d" xsi:nil="true"/>
    <Is_Collaboration_Space_Locked xmlns="3b47981c-61e2-4894-9b95-d78484a6277d" xsi:nil="true"/>
    <Teams_Channel_Section_Location xmlns="3b47981c-61e2-4894-9b95-d78484a6277d" xsi:nil="true"/>
    <CultureName xmlns="3b47981c-61e2-4894-9b95-d78484a6277d" xsi:nil="true"/>
    <Owner xmlns="3b47981c-61e2-4894-9b95-d78484a6277d">
      <UserInfo>
        <DisplayName/>
        <AccountId xsi:nil="true"/>
        <AccountType/>
      </UserInfo>
    </Owner>
    <TaxCatchAll xmlns="b466e2c2-c6c4-42b9-a506-879fde1702df" xsi:nil="true"/>
    <Invited_Students xmlns="3b47981c-61e2-4894-9b95-d78484a627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4D08C1-9372-40F2-8898-7F0ABE5D2493}"/>
</file>

<file path=customXml/itemProps2.xml><?xml version="1.0" encoding="utf-8"?>
<ds:datastoreItem xmlns:ds="http://schemas.openxmlformats.org/officeDocument/2006/customXml" ds:itemID="{26AD8660-BD4A-452F-8D5D-C91D5F350569}">
  <ds:schemaRefs>
    <ds:schemaRef ds:uri="3b47981c-61e2-4894-9b95-d78484a6277d"/>
    <ds:schemaRef ds:uri="b466e2c2-c6c4-42b9-a506-879fde1702d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693B8AF-BC2E-46FB-B74B-577BEEC820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2026-03-24T22:07:50Z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0x010100A37D49A8764A5C48814EF56013A935E1</vt:lpwstr>
  </property>
  <property fmtid="{D5CDD505-2E9C-101B-9397-08002B2CF9AE}" pid="3" name="MediaServiceImageTags">
    <vt:lpwstr/>
  </property>
</Properties>
</file>